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svg" ContentType="image/svg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8.xml" ContentType="application/vnd.openxmlformats-officedocument.presentationml.slideLayout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3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2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29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28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</p:sldIdLst>
  <p:sldSz cx="12192000" cy="6858000"/>
  <p:notesSz cx="7102475" cy="10234613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8" d="100"/>
          <a:sy n="68" d="100"/>
        </p:scale>
        <p:origin x="616" y="4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 /><Relationship Id="rId45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298311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61406078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5E89DEF-C035-41A2-9AFE-A6026D4C04BE}" type="datetimeFigureOut">
              <a:rPr lang="de-AT"/>
              <a:t>19.02.2021</a:t>
            </a:fld>
            <a:endParaRPr lang="de-AT"/>
          </a:p>
        </p:txBody>
      </p:sp>
      <p:sp>
        <p:nvSpPr>
          <p:cNvPr id="1507784956" name="Folienbildplatzhalt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81013" y="1279525"/>
            <a:ext cx="6140450" cy="345439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de-AT"/>
          </a:p>
        </p:txBody>
      </p:sp>
      <p:sp>
        <p:nvSpPr>
          <p:cNvPr id="580747854" name="Notizen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709613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AT"/>
          </a:p>
        </p:txBody>
      </p:sp>
      <p:sp>
        <p:nvSpPr>
          <p:cNvPr id="1328537888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69354980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EF2A079-E7F8-4A78-8EEA-DD00A8D5DE37}" type="slidenum">
              <a:rPr lang="de-AT"/>
              <a:t>‹Nr.›</a:t>
            </a:fld>
            <a:endParaRPr lang="de-A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00992" name="Folienbildplatzhalt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3182355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6193266" name="Foliennummernplatzhalt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F2A079-E7F8-4A78-8EEA-DD00A8D5DE37}" type="slidenum">
              <a:rPr lang="de-AT"/>
              <a:t>2</a:t>
            </a:fld>
            <a:endParaRPr lang="de-A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67342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1363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5122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CCDAE5-F0E6-F88B-44B5-B6A958E7D1D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8266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45009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4372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4C3E98-8DD1-F1F5-B0A4-345861D9958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2810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3105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17792" indent="-217792">
              <a:buFont typeface="Arial"/>
              <a:buChar char="–"/>
              <a:defRPr/>
            </a:pPr>
            <a:r>
              <a:rPr/>
              <a:t>KURZ HALTEN</a:t>
            </a:r>
            <a:endParaRPr/>
          </a:p>
          <a:p>
            <a:pPr marL="217792" indent="-217792">
              <a:buFont typeface="Arial"/>
              <a:buChar char="–"/>
              <a:defRPr/>
            </a:pPr>
            <a:r>
              <a:rPr/>
              <a:t>“AI for sustainability”, “AI for ...”, “AI for ...”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/>
              <a:t>Little evidence for expectations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/>
              <a:t>Climate disruption, biodiversity loss, unsustainable extraction of resources —&gt; 7/9 planetary boundaries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/>
              <a:t>Expanding AI infra have environmental costs. Data centers are projected to require as much electricity as Japan.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/>
              <a:t>D</a:t>
            </a:r>
            <a:r>
              <a:rPr/>
              <a:t>ominant narratives of efficiency, inn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ovation, green growth risk framing ecological impacts as technical side-effects.</a:t>
            </a:r>
            <a:endParaRPr/>
          </a:p>
          <a:p>
            <a:pPr marL="217793" marR="0" indent="-21779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EU AI governance is commonly presented as an inclusive, multi-stakeholder process that balances innovation, ethics, and sustainability</a:t>
            </a:r>
            <a:endParaRPr/>
          </a:p>
        </p:txBody>
      </p:sp>
      <p:sp>
        <p:nvSpPr>
          <p:cNvPr id="98298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6BEF7C-AC53-BC59-7961-089A45147F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916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2380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48274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F3E65-8B58-E77F-B13C-168D2EDBDE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3553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3842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Minute 1</a:t>
            </a:r>
            <a:endParaRPr/>
          </a:p>
        </p:txBody>
      </p:sp>
      <p:sp>
        <p:nvSpPr>
          <p:cNvPr id="2099299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AE220F-2403-449D-4FE8-905078DF2A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74535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2577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Governance shaped by power,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not neutral, but interest-driven,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links environment and political economy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Who defines “sustainable AI”,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focus on actors + narratives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Defines problems and solutions,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sets what is “visible”,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dominant vs. marginalized narratives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Unequal access to policy-making,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central actors shape discourse,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exclusion of alternative views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 depends on raw materials,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impacts externalized to Global South,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largely absent in EU discourse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ustainability = political outcome,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shaped by power + discourse + material realities</a:t>
            </a:r>
            <a:endParaRPr/>
          </a:p>
        </p:txBody>
      </p:sp>
      <p:sp>
        <p:nvSpPr>
          <p:cNvPr id="5987073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AE19C8-A460-C292-620E-DF3BB3A3BD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32237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1556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governance as a strategic field,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actors interact under shared rules,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field structured by power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incumbents → dominant, resource-rich,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challengers → weaker, try to shift field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EU AI governance = contested arena,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multiple actors compete for influence,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not a neutral policy-making space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Explains why some actors dominate,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helps interpret network centrality,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connects structure to outcomes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How do structural advantages shape policy?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Who stabilizes current AI trajectory?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Who is able to challenge it?</a:t>
            </a:r>
            <a:endParaRPr sz="14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“SAF helps explain why certain actors consistently shape EU AI governance, while others struggle to gain influence."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17792" indent="-217792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Political ecology: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what kind of power relations matter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SAF: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how these power relations are produced and stabilized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</p:txBody>
      </p:sp>
      <p:sp>
        <p:nvSpPr>
          <p:cNvPr id="566681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78CFCE-2586-43F3-826D-D4D38CAFAE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8767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79882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SNA: maps relationships between actors,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shows who connects to whom,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makes structure visible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central vs. peripheral actors,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clusters and coalitions,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pathways of influence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CA: analyzes what actors say,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focuses on sustainability framing,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identifies recurring narratives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how ecological concerns are framed,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which issues are emphasized or ignored,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differences across actor groups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SNA → who has influence, CA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→ how they use it,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links structure and meaning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SNA shows how influence is distributed structurally, SAF explains how actors use that position to shape meaning and maintain dominance</a:t>
            </a:r>
            <a:endParaRPr/>
          </a:p>
        </p:txBody>
      </p:sp>
      <p:sp>
        <p:nvSpPr>
          <p:cNvPr id="6013917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C72A9C-FF8F-45C9-87D0-43EF69A8E7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505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1324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244936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7AE53D-A5EC-4DA5-65C0-EA600CC6B1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1838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70299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Minute 5</a:t>
            </a:r>
            <a:endParaRPr/>
          </a:p>
        </p:txBody>
      </p:sp>
      <p:sp>
        <p:nvSpPr>
          <p:cNvPr id="1143620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8464F2-250B-6BDB-3A42-B55D7DE12E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380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96738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few actors dominate connections,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many remain peripheral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dense central core,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dominated by industry actors,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 connectivity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central industry actors 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617842" lvl="1" indent="-217792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have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higher access,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better coordination, a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genda-setting capacity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617842" lvl="1" indent="-217792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shape narratives,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their framing becomes dominant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governance is structurally unequal</a:t>
            </a:r>
            <a:endParaRPr/>
          </a:p>
        </p:txBody>
      </p:sp>
      <p:sp>
        <p:nvSpPr>
          <p:cNvPr id="62075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A36252-A56E-AA59-F260-BFD27A6A3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8749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34531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3222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178F76-A30B-403C-4EEF-7AC0FBA3334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5959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8098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1622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57FE0E-74C4-0F74-2377-0A194CB857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0350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1675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17792" indent="-217792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Connection texts —&gt; organizations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sustainability framed narrowly,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focus on economic and social aspects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environmental aspects appear: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secondary,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conditional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ecological concerns marginalized,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not integrated into core framing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sustainability discourse is selective</a:t>
            </a:r>
            <a:endParaRPr/>
          </a:p>
        </p:txBody>
      </p:sp>
      <p:sp>
        <p:nvSpPr>
          <p:cNvPr id="851324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72A43F-4E1A-47DB-74C0-5ABC333FE58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14348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5502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5840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22D856-EC79-9360-C295-CC40DAA281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4737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74229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coalitions exist,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but not evenly distributed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17792" indent="-217792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structure favors certain actors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Challengers: fragmented and dispersed,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weak coordination,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 strong shared coalition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Challengers: lack entry points,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limited participation in key groupings</a:t>
            </a:r>
            <a:endParaRPr/>
          </a:p>
        </p:txBody>
      </p:sp>
      <p:sp>
        <p:nvSpPr>
          <p:cNvPr id="2105869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5648-FB6F-0C60-EA4D-06A924C8D3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47089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2157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02728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15B256-1752-C61D-302A-CCFF8D3A2B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0626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3415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Minute 10</a:t>
            </a:r>
            <a:endParaRPr/>
          </a:p>
        </p:txBody>
      </p:sp>
      <p:sp>
        <p:nvSpPr>
          <p:cNvPr id="12631319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2E2797-086C-2F06-03B3-344A1C9F06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32816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8890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reconnect findings to core question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industry actors dominate,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structural imbalance persists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limited participation of challengers,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need broader inclusion,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especially environmental justice perspectives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governance not evenly representative,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raises legitimacy concerns,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whose interests are reflected?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key actors benefit economically,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same actors shape regulation,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structural bias toward market logic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current setup reproduces imbalance,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difficult to integrate ecological concerns</a:t>
            </a:r>
            <a:endParaRPr/>
          </a:p>
        </p:txBody>
      </p:sp>
      <p:sp>
        <p:nvSpPr>
          <p:cNvPr id="3995916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94B0DD-1CE9-DF78-E8B2-E4C23A1931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4281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43851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17792" indent="-217792">
              <a:buFont typeface="Arial"/>
              <a:buChar char="–"/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narrative power shapes what is possible,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sets boundaries of debate</a:t>
            </a:r>
            <a:endParaRPr sz="1200"/>
          </a:p>
          <a:p>
            <a:pPr marL="217792" indent="-217792">
              <a:buFont typeface="Arial"/>
              <a:buChar char="–"/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 framed as necessary,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linked to: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competitiveness,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sovereignty,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innovation</a:t>
            </a:r>
            <a:endParaRPr sz="1200"/>
          </a:p>
          <a:p>
            <a:pPr marL="217792" indent="-217792">
              <a:buFont typeface="Arial"/>
              <a:buChar char="–"/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"AI becomes something that cannot be questioned."</a:t>
            </a:r>
            <a:endParaRPr sz="1200"/>
          </a:p>
          <a:p>
            <a:pPr marL="217792" indent="-217792">
              <a:buFont typeface="Arial"/>
              <a:buChar char="–"/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limits critical discussion,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expansion taken as given,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 space for “do we need this?”</a:t>
            </a:r>
            <a:endParaRPr sz="1200"/>
          </a:p>
          <a:p>
            <a:pPr marL="217792" indent="-217792">
              <a:buFont typeface="Arial"/>
              <a:buChar char="–"/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assumes AI growth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focuses on optimization,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not on limits</a:t>
            </a:r>
            <a:endParaRPr sz="1200"/>
          </a:p>
          <a:p>
            <a:pPr marL="217792" indent="-217792">
              <a:buFont typeface="Arial"/>
              <a:buChar char="–"/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ecological costs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geographically and politically externalized</a:t>
            </a:r>
            <a:endParaRPr sz="1200"/>
          </a:p>
          <a:p>
            <a:pPr marL="217792" indent="-217792">
              <a:buFont typeface="Arial"/>
              <a:buChar char="–"/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treated as downstream issues,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secondary to innovation goals,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not part of core governance</a:t>
            </a:r>
            <a:endParaRPr sz="1200"/>
          </a:p>
          <a:p>
            <a:pPr>
              <a:defRPr/>
            </a:pPr>
            <a:endParaRPr/>
          </a:p>
        </p:txBody>
      </p:sp>
      <p:sp>
        <p:nvSpPr>
          <p:cNvPr id="7596329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F6F995-46FF-6DC8-6C38-C6F03AAF2D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046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33325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digital + green transition,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central EU narrative,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promises alignment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functions as rhetorical frame,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less visible in actual practice,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weak integration in governance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sustainability framed economically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—&gt;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mismatch between narrative and findings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growth logic remains dominant,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digital expansion prioritized,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green goals secondary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narrative legitimizes expansion,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masks underlying trade-offs,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reduces critical scrutiny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more balanced approach,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integrate ecological limits,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move beyond growth-centered framing</a:t>
            </a:r>
            <a:endParaRPr/>
          </a:p>
        </p:txBody>
      </p:sp>
      <p:sp>
        <p:nvSpPr>
          <p:cNvPr id="17794474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519BA5-D61A-B10C-A78F-D17F5503B8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3290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2876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4080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56A765-46A6-B91E-4B65-8CD654B4FB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1362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2723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882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AA8E8B-EAA6-710B-5206-9E0D0B3D60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598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9901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6998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EBDF6D-972B-9CA3-0542-7CB3F4D172A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524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08822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460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BBFFB9-8DC3-2126-80B5-7DAE7A12FC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2485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57900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317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FBED74-9D24-F441-B8EF-5662F66EA6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71597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4131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17792" indent="-217792">
              <a:buFont typeface="Arial"/>
              <a:buChar char="–"/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large, structured dataset,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covers full governance ecosystem</a:t>
            </a:r>
            <a:endParaRPr sz="1200"/>
          </a:p>
          <a:p>
            <a:pPr marL="217792" indent="-217792">
              <a:buFont typeface="Arial"/>
              <a:buChar char="–"/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organizations + texts,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links = participation or contribution,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weighted connections</a:t>
            </a:r>
            <a:endParaRPr sz="1200"/>
          </a:p>
          <a:p>
            <a:pPr marL="217792" indent="-217792">
              <a:buFont typeface="Arial"/>
              <a:buChar char="–"/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captures both: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institutional actors,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discursive production,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allows mapping influence across arenas</a:t>
            </a:r>
            <a:endParaRPr sz="1200"/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comprehensive view of EU AI governance,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not a single arena, but a dense network</a:t>
            </a:r>
            <a:endParaRPr/>
          </a:p>
        </p:txBody>
      </p:sp>
      <p:sp>
        <p:nvSpPr>
          <p:cNvPr id="41291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8DC855-7C28-61A0-B675-3C0FE5A527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829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28170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023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30B0E7-12F1-F5E8-82E1-5136FB9590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4245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2552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2042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B65DFB-5FC6-68E9-D8A6-5C06B85B75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3194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0061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63460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82DE02-933B-6FB2-F900-E20D2463D8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5107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95589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7293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52F5F0-6BE2-36A7-5A19-30772EDD9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6079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5530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6828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B1D036-0501-B84D-2392-9FE70DF620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3081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0473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159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58D0AE-18F5-9FB1-6B04-F4FE7A9DD1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385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7716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influence through relations,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embedded in network structure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"Influence often comes from being present where decisions are shaped."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 centrality → more connections,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better access to information,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higher visibility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brokers connect different groups,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control information flows,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enable coordination across clusters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influence = position + access + coordination</a:t>
            </a:r>
            <a:endParaRPr/>
          </a:p>
        </p:txBody>
      </p:sp>
      <p:sp>
        <p:nvSpPr>
          <p:cNvPr id="4857451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A22EAD-B72A-2A2D-8FFD-B8E7E7C2FE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881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278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network position shapes discourse: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incumbents dominate core,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market-oriented logic,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strong structural embeddedness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ecological justice perspectives exist,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located at the margins,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low connectivity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follows centrality,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central actors define framing,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peripheral voices less visible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limited access for challengers,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hard to shift dominant narratives/the action field,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structural barriers persist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 causality, but strong alignment between structural position and sustainability framing</a:t>
            </a:r>
            <a:endParaRPr/>
          </a:p>
        </p:txBody>
      </p:sp>
      <p:sp>
        <p:nvSpPr>
          <p:cNvPr id="12861995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8725F-0DFF-365C-D7DD-3AE45AFE6F8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6495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87232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4602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5E7DAB-56CD-25C7-6D9F-8CFD712CEF8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04750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70054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2425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C14F9-1C07-4B5A-C8E7-FF96DE1F75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6089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11453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754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8F402D-6635-3F4C-BAB1-BD5309C337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media2.sv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media3.sv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media4.svg"/><Relationship Id="rId4" Type="http://schemas.openxmlformats.org/officeDocument/2006/relationships/image" Target="../media/image5.png"/><Relationship Id="rId5" Type="http://schemas.openxmlformats.org/officeDocument/2006/relationships/image" Target="../media/media5.sv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media6.svg"/><Relationship Id="rId4" Type="http://schemas.openxmlformats.org/officeDocument/2006/relationships/image" Target="../media/image7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JKU Log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3612346" name="Grafik 2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2743373" y="1575534"/>
            <a:ext cx="7107871" cy="50325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JKU Logo weiss">
    <p:bg>
      <p:bgPr shadeToTitle="0">
        <a:solidFill>
          <a:schemeClr val="accent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7867796" name="Grafik 1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2744979" y="1577096"/>
            <a:ext cx="7107380" cy="50322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Titel / Schluss mit Log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7237466" name="Grafik 4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455" t="15293" r="42710" b="38849"/>
          <a:stretch/>
        </p:blipFill>
        <p:spPr bwMode="auto"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134627658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485737" y="5412164"/>
            <a:ext cx="9216577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Platz für Details und nächste Schritte.</a:t>
            </a:r>
            <a:endParaRPr lang="en-US"/>
          </a:p>
        </p:txBody>
      </p:sp>
      <p:sp>
        <p:nvSpPr>
          <p:cNvPr id="1778669180" name="Titel 5"/>
          <p:cNvSpPr>
            <a:spLocks noGrp="1"/>
          </p:cNvSpPr>
          <p:nvPr>
            <p:ph type="title" hasCustomPrompt="1"/>
          </p:nvPr>
        </p:nvSpPr>
        <p:spPr bwMode="auto">
          <a:xfrm>
            <a:off x="475590" y="1307110"/>
            <a:ext cx="9226724" cy="2009172"/>
          </a:xfrm>
        </p:spPr>
        <p:txBody>
          <a:bodyPr anchor="b" anchorCtr="0"/>
          <a:lstStyle>
            <a:lvl1pPr>
              <a:defRPr sz="4500"/>
            </a:lvl1pPr>
          </a:lstStyle>
          <a:p>
            <a:pPr>
              <a:defRPr/>
            </a:pPr>
            <a:r>
              <a:rPr lang="de-DE"/>
              <a:t>Platz für </a:t>
            </a:r>
            <a:br>
              <a:rPr lang="de-DE"/>
            </a:br>
            <a:r>
              <a:rPr lang="de-DE"/>
              <a:t>den Titel.</a:t>
            </a:r>
            <a:endParaRPr lang="de-AT"/>
          </a:p>
        </p:txBody>
      </p:sp>
      <p:sp>
        <p:nvSpPr>
          <p:cNvPr id="382902626" name="Textfeld 6"/>
          <p:cNvSpPr txBox="1"/>
          <p:nvPr userDrawn="1"/>
        </p:nvSpPr>
        <p:spPr bwMode="auto"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  <a:defRPr/>
            </a:pPr>
            <a:r>
              <a:rPr lang="de-AT" sz="800" b="0">
                <a:solidFill>
                  <a:schemeClr val="tx1"/>
                </a:solidFill>
                <a:latin typeface="+mj-lt"/>
              </a:rPr>
              <a:t>JOHANNES</a:t>
            </a:r>
            <a:r>
              <a:rPr lang="de-AT" sz="800" b="0">
                <a:solidFill>
                  <a:schemeClr val="tx1"/>
                </a:solidFill>
                <a:latin typeface="+mj-lt"/>
              </a:rPr>
              <a:t> KEPLER UNIVERSITÄT LINZ</a:t>
            </a:r>
            <a:endParaRPr/>
          </a:p>
          <a:p>
            <a:pPr>
              <a:lnSpc>
                <a:spcPts val="1000"/>
              </a:lnSpc>
              <a:defRPr/>
            </a:pPr>
            <a:r>
              <a:rPr lang="de-AT" sz="800" b="0">
                <a:solidFill>
                  <a:schemeClr val="tx1"/>
                </a:solidFill>
                <a:latin typeface="+mn-lt"/>
              </a:rPr>
              <a:t>Altenberger Straße 69</a:t>
            </a:r>
            <a:endParaRPr/>
          </a:p>
          <a:p>
            <a:pPr>
              <a:lnSpc>
                <a:spcPts val="1000"/>
              </a:lnSpc>
              <a:defRPr/>
            </a:pPr>
            <a:r>
              <a:rPr lang="de-AT" sz="800" b="0">
                <a:solidFill>
                  <a:schemeClr val="tx1"/>
                </a:solidFill>
                <a:latin typeface="+mn-lt"/>
              </a:rPr>
              <a:t>4040 Linz, Österreich</a:t>
            </a:r>
            <a:endParaRPr/>
          </a:p>
          <a:p>
            <a:pPr>
              <a:lnSpc>
                <a:spcPts val="1000"/>
              </a:lnSpc>
              <a:defRPr/>
            </a:pPr>
            <a:r>
              <a:rPr lang="de-AT" sz="800" b="0">
                <a:solidFill>
                  <a:schemeClr val="tx1"/>
                </a:solidFill>
                <a:latin typeface="+mn-lt"/>
              </a:rPr>
              <a:t>jku.at</a:t>
            </a:r>
            <a:endParaRPr lang="de-AT" sz="800" b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937861872" name="Grafik 8"/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9703708" y="556101"/>
            <a:ext cx="1929267" cy="1365970"/>
          </a:xfrm>
          <a:prstGeom prst="rect">
            <a:avLst/>
          </a:prstGeom>
        </p:spPr>
      </p:pic>
      <p:sp>
        <p:nvSpPr>
          <p:cNvPr id="841338837" name="Bildplatzhalter 9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0151559" y="2516799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r>
              <a:rPr lang="en-US"/>
              <a:t>Platz</a:t>
            </a:r>
            <a:r>
              <a:rPr lang="en-US"/>
              <a:t> </a:t>
            </a:r>
            <a:r>
              <a:rPr lang="en-US"/>
              <a:t>für</a:t>
            </a:r>
            <a:r>
              <a:rPr lang="en-US"/>
              <a:t> </a:t>
            </a:r>
            <a:r>
              <a:rPr lang="en-US"/>
              <a:t>ein</a:t>
            </a:r>
            <a:r>
              <a:rPr lang="en-US"/>
              <a:t> </a:t>
            </a:r>
            <a:r>
              <a:rPr lang="en-US"/>
              <a:t>Partnerlogo</a:t>
            </a:r>
            <a:endParaRPr lang="en-US"/>
          </a:p>
        </p:txBody>
      </p:sp>
      <p:sp>
        <p:nvSpPr>
          <p:cNvPr id="782880524" name="Bildplatzhalter 9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r>
              <a:rPr lang="en-US"/>
              <a:t>Platz</a:t>
            </a:r>
            <a:r>
              <a:rPr lang="en-US"/>
              <a:t> </a:t>
            </a:r>
            <a:r>
              <a:rPr lang="en-US"/>
              <a:t>für</a:t>
            </a:r>
            <a:r>
              <a:rPr lang="en-US"/>
              <a:t> </a:t>
            </a:r>
            <a:r>
              <a:rPr lang="en-US"/>
              <a:t>ein</a:t>
            </a:r>
            <a:r>
              <a:rPr lang="en-US"/>
              <a:t> </a:t>
            </a:r>
            <a:r>
              <a:rPr lang="en-US"/>
              <a:t>Partnerlogo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Titel / Schluss mit Logo farbig">
    <p:bg>
      <p:bgPr shadeToTitle="0">
        <a:solidFill>
          <a:schemeClr val="accent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546747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Platz für Details und nächste Schritte.</a:t>
            </a:r>
            <a:endParaRPr lang="en-US"/>
          </a:p>
        </p:txBody>
      </p:sp>
      <p:sp>
        <p:nvSpPr>
          <p:cNvPr id="674672304" name="Titel 5"/>
          <p:cNvSpPr>
            <a:spLocks noGrp="1"/>
          </p:cNvSpPr>
          <p:nvPr>
            <p:ph type="title" hasCustomPrompt="1"/>
          </p:nvPr>
        </p:nvSpPr>
        <p:spPr bwMode="auto"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Platz für </a:t>
            </a:r>
            <a:br>
              <a:rPr lang="de-DE"/>
            </a:br>
            <a:r>
              <a:rPr lang="de-DE"/>
              <a:t>den Titel.</a:t>
            </a:r>
            <a:endParaRPr lang="de-AT"/>
          </a:p>
        </p:txBody>
      </p:sp>
      <p:sp>
        <p:nvSpPr>
          <p:cNvPr id="1175752308" name="Textfeld 6"/>
          <p:cNvSpPr txBox="1"/>
          <p:nvPr userDrawn="1"/>
        </p:nvSpPr>
        <p:spPr bwMode="auto"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  <a:defRPr/>
            </a:pPr>
            <a:r>
              <a:rPr lang="de-AT" sz="800" b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>
                <a:solidFill>
                  <a:schemeClr val="bg1"/>
                </a:solidFill>
                <a:latin typeface="+mj-lt"/>
              </a:rPr>
              <a:t> KEPLER UNIVERSITÄT LINZ</a:t>
            </a:r>
            <a:endParaRPr/>
          </a:p>
          <a:p>
            <a:pPr>
              <a:lnSpc>
                <a:spcPts val="1000"/>
              </a:lnSpc>
              <a:defRPr/>
            </a:pPr>
            <a:r>
              <a:rPr lang="de-AT" sz="800" b="0">
                <a:solidFill>
                  <a:schemeClr val="bg1"/>
                </a:solidFill>
                <a:latin typeface="+mn-lt"/>
              </a:rPr>
              <a:t>Altenberger Straße 69</a:t>
            </a:r>
            <a:endParaRPr/>
          </a:p>
          <a:p>
            <a:pPr>
              <a:lnSpc>
                <a:spcPts val="1000"/>
              </a:lnSpc>
              <a:defRPr/>
            </a:pPr>
            <a:r>
              <a:rPr lang="de-AT" sz="800" b="0">
                <a:solidFill>
                  <a:schemeClr val="bg1"/>
                </a:solidFill>
                <a:latin typeface="+mn-lt"/>
              </a:rPr>
              <a:t>4040 Linz, Österreich</a:t>
            </a:r>
            <a:endParaRPr/>
          </a:p>
          <a:p>
            <a:pPr>
              <a:lnSpc>
                <a:spcPts val="1000"/>
              </a:lnSpc>
              <a:defRPr/>
            </a:pPr>
            <a:r>
              <a:rPr lang="de-AT" sz="800" b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10547925" name="Bildplatzhalter 9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Platz</a:t>
            </a:r>
            <a:r>
              <a:rPr lang="en-US"/>
              <a:t> </a:t>
            </a:r>
            <a:r>
              <a:rPr lang="en-US"/>
              <a:t>für</a:t>
            </a:r>
            <a:r>
              <a:rPr lang="en-US"/>
              <a:t> </a:t>
            </a:r>
            <a:r>
              <a:rPr lang="en-US"/>
              <a:t>ein</a:t>
            </a:r>
            <a:r>
              <a:rPr lang="en-US"/>
              <a:t> </a:t>
            </a:r>
            <a:r>
              <a:rPr lang="en-US"/>
              <a:t>Partnerlogo</a:t>
            </a:r>
            <a:endParaRPr lang="en-US"/>
          </a:p>
        </p:txBody>
      </p:sp>
      <p:sp>
        <p:nvSpPr>
          <p:cNvPr id="29591340" name="Bildplatzhalter 9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Platz</a:t>
            </a:r>
            <a:r>
              <a:rPr lang="en-US"/>
              <a:t> </a:t>
            </a:r>
            <a:r>
              <a:rPr lang="en-US"/>
              <a:t>für</a:t>
            </a:r>
            <a:r>
              <a:rPr lang="en-US"/>
              <a:t> </a:t>
            </a:r>
            <a:r>
              <a:rPr lang="en-US"/>
              <a:t>ein</a:t>
            </a:r>
            <a:r>
              <a:rPr lang="en-US"/>
              <a:t> </a:t>
            </a:r>
            <a:r>
              <a:rPr lang="en-US"/>
              <a:t>Partnerlogo</a:t>
            </a:r>
            <a:endParaRPr lang="en-US"/>
          </a:p>
        </p:txBody>
      </p:sp>
      <p:pic>
        <p:nvPicPr>
          <p:cNvPr id="2009233119" name="Grafik 17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544365407" name="Grafik 18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>
            <a:off x="9699276" y="564434"/>
            <a:ext cx="1929147" cy="13658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4510907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Platz für Details und nächste Schritte.</a:t>
            </a:r>
            <a:endParaRPr lang="en-US"/>
          </a:p>
        </p:txBody>
      </p:sp>
      <p:sp>
        <p:nvSpPr>
          <p:cNvPr id="1998529372" name="Titel 5"/>
          <p:cNvSpPr>
            <a:spLocks noGrp="1"/>
          </p:cNvSpPr>
          <p:nvPr>
            <p:ph type="title" hasCustomPrompt="1"/>
          </p:nvPr>
        </p:nvSpPr>
        <p:spPr bwMode="auto"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Platz für </a:t>
            </a:r>
            <a:br>
              <a:rPr lang="de-DE"/>
            </a:br>
            <a:r>
              <a:rPr lang="de-DE"/>
              <a:t>den Titel.</a:t>
            </a:r>
            <a:endParaRPr lang="de-AT"/>
          </a:p>
        </p:txBody>
      </p:sp>
      <p:pic>
        <p:nvPicPr>
          <p:cNvPr id="1994950439" name="Grafik 12"/>
          <p:cNvPicPr>
            <a:picLocks noChangeAspect="1"/>
          </p:cNvPicPr>
          <p:nvPr userDrawn="1"/>
        </p:nvPicPr>
        <p:blipFill rotWithShape="1">
          <a:blip r:embed="rId2"/>
          <a:srcRect l="27455" t="15293" r="42710" b="38849"/>
          <a:stretch/>
        </p:blipFill>
        <p:spPr bwMode="auto"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953599393" name="Datumsplatzhalter 10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16.10.2015</a:t>
            </a:r>
            <a:endParaRPr lang="en-US"/>
          </a:p>
        </p:txBody>
      </p:sp>
      <p:sp>
        <p:nvSpPr>
          <p:cNvPr id="288154019" name="Fußzeilenplatzhalter 1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Platz für Autor und LVA-Nummer</a:t>
            </a:r>
            <a:endParaRPr lang="en-US"/>
          </a:p>
        </p:txBody>
      </p:sp>
      <p:sp>
        <p:nvSpPr>
          <p:cNvPr id="1500168049" name="Foliennummernplatzhalter 1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8F3185B-C653-42AE-8B74-FF214C291574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 farbig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845528" name="Rechteck 1"/>
          <p:cNvSpPr/>
          <p:nvPr userDrawn="1"/>
        </p:nvSpPr>
        <p:spPr bwMode="auto">
          <a:xfrm>
            <a:off x="0" y="0"/>
            <a:ext cx="12192000" cy="61436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145392111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Platz für Details und nächste Schritte.</a:t>
            </a:r>
            <a:endParaRPr lang="en-US"/>
          </a:p>
        </p:txBody>
      </p:sp>
      <p:sp>
        <p:nvSpPr>
          <p:cNvPr id="921393480" name="Titel 5"/>
          <p:cNvSpPr>
            <a:spLocks noGrp="1"/>
          </p:cNvSpPr>
          <p:nvPr>
            <p:ph type="title" hasCustomPrompt="1"/>
          </p:nvPr>
        </p:nvSpPr>
        <p:spPr bwMode="auto"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Platz für </a:t>
            </a:r>
            <a:br>
              <a:rPr lang="de-DE"/>
            </a:br>
            <a:r>
              <a:rPr lang="de-DE"/>
              <a:t>den Titel.</a:t>
            </a:r>
            <a:endParaRPr lang="de-AT"/>
          </a:p>
        </p:txBody>
      </p:sp>
      <p:pic>
        <p:nvPicPr>
          <p:cNvPr id="1517529860" name="Grafik 17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728154513" name="Datumsplatzhalter 1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16.10.2015</a:t>
            </a:r>
            <a:endParaRPr lang="en-US"/>
          </a:p>
        </p:txBody>
      </p:sp>
      <p:sp>
        <p:nvSpPr>
          <p:cNvPr id="1493631445" name="Fußzeilenplatzhalter 19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Platz für Autor und LVA-Nummer</a:t>
            </a:r>
            <a:endParaRPr lang="en-US"/>
          </a:p>
        </p:txBody>
      </p:sp>
      <p:sp>
        <p:nvSpPr>
          <p:cNvPr id="1367486441" name="Foliennummernplatzhalter 20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8F3185B-C653-42AE-8B74-FF214C291574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Übersicht Kooperatione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5658496" name="Bildplatzhalter 6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8241458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600"/>
            </a:lvl1pPr>
          </a:lstStyle>
          <a:p>
            <a:pPr>
              <a:defRPr/>
            </a:pPr>
            <a:r>
              <a:rPr lang="de-AT"/>
              <a:t>Platz für ein Partnerlogo</a:t>
            </a: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834202622" name="Bildplatzhalter 6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574656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600"/>
            </a:lvl1pPr>
          </a:lstStyle>
          <a:p>
            <a:pPr>
              <a:defRPr/>
            </a:pPr>
            <a:r>
              <a:rPr lang="de-AT"/>
              <a:t>Platz für ein Partnerlogo</a:t>
            </a: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1469005993" name="Bildplatzhalter 6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4407277" y="1720151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600"/>
            </a:lvl1pPr>
          </a:lstStyle>
          <a:p>
            <a:pPr>
              <a:defRPr/>
            </a:pPr>
            <a:r>
              <a:rPr lang="de-AT"/>
              <a:t>Platz für ein Partnerlogo</a:t>
            </a: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919400155" name="Titel 2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In Kooperation mit.</a:t>
            </a:r>
            <a:endParaRPr/>
          </a:p>
        </p:txBody>
      </p:sp>
      <p:sp>
        <p:nvSpPr>
          <p:cNvPr id="1814192562" name="Bildplatzhalter 6"/>
          <p:cNvSpPr>
            <a:spLocks noGrp="1"/>
          </p:cNvSpPr>
          <p:nvPr>
            <p:ph type="pic" sz="quarter" idx="26" hasCustomPrompt="1"/>
          </p:nvPr>
        </p:nvSpPr>
        <p:spPr bwMode="auto">
          <a:xfrm>
            <a:off x="8241458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600"/>
            </a:lvl1pPr>
          </a:lstStyle>
          <a:p>
            <a:pPr>
              <a:defRPr/>
            </a:pPr>
            <a:r>
              <a:rPr lang="de-AT"/>
              <a:t>Platz für ein Partnerlogo</a:t>
            </a: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2068611384" name="Bildplatzhalter 6"/>
          <p:cNvSpPr>
            <a:spLocks noGrp="1"/>
          </p:cNvSpPr>
          <p:nvPr>
            <p:ph type="pic" sz="quarter" idx="27" hasCustomPrompt="1"/>
          </p:nvPr>
        </p:nvSpPr>
        <p:spPr bwMode="auto">
          <a:xfrm>
            <a:off x="574656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600"/>
            </a:lvl1pPr>
          </a:lstStyle>
          <a:p>
            <a:pPr>
              <a:defRPr/>
            </a:pPr>
            <a:r>
              <a:rPr lang="de-AT"/>
              <a:t>Platz für ein Partnerlogo</a:t>
            </a: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147722426" name="Bildplatzhalter 6"/>
          <p:cNvSpPr>
            <a:spLocks noGrp="1"/>
          </p:cNvSpPr>
          <p:nvPr>
            <p:ph type="pic" sz="quarter" idx="28" hasCustomPrompt="1"/>
          </p:nvPr>
        </p:nvSpPr>
        <p:spPr bwMode="auto">
          <a:xfrm>
            <a:off x="4407277" y="329029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600"/>
            </a:lvl1pPr>
          </a:lstStyle>
          <a:p>
            <a:pPr>
              <a:defRPr/>
            </a:pPr>
            <a:r>
              <a:rPr lang="de-AT"/>
              <a:t>Platz für ein Partnerlogo</a:t>
            </a: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1949016258" name="Bildplatzhalter 6"/>
          <p:cNvSpPr>
            <a:spLocks noGrp="1"/>
          </p:cNvSpPr>
          <p:nvPr>
            <p:ph type="pic" sz="quarter" idx="29" hasCustomPrompt="1"/>
          </p:nvPr>
        </p:nvSpPr>
        <p:spPr bwMode="auto">
          <a:xfrm>
            <a:off x="8246376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600"/>
            </a:lvl1pPr>
          </a:lstStyle>
          <a:p>
            <a:pPr>
              <a:defRPr/>
            </a:pPr>
            <a:r>
              <a:rPr lang="de-AT"/>
              <a:t>Platz für ein Partnerlogo</a:t>
            </a: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894644153" name="Bildplatzhalter 6"/>
          <p:cNvSpPr>
            <a:spLocks noGrp="1"/>
          </p:cNvSpPr>
          <p:nvPr>
            <p:ph type="pic" sz="quarter" idx="30" hasCustomPrompt="1"/>
          </p:nvPr>
        </p:nvSpPr>
        <p:spPr bwMode="auto">
          <a:xfrm>
            <a:off x="579574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600"/>
            </a:lvl1pPr>
          </a:lstStyle>
          <a:p>
            <a:pPr>
              <a:defRPr/>
            </a:pPr>
            <a:r>
              <a:rPr lang="de-AT"/>
              <a:t>Platz für ein Partnerlogo</a:t>
            </a: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2002971164" name="Bildplatzhalter 6"/>
          <p:cNvSpPr>
            <a:spLocks noGrp="1"/>
          </p:cNvSpPr>
          <p:nvPr>
            <p:ph type="pic" sz="quarter" idx="31" hasCustomPrompt="1"/>
          </p:nvPr>
        </p:nvSpPr>
        <p:spPr bwMode="auto">
          <a:xfrm>
            <a:off x="4412195" y="486645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600"/>
            </a:lvl1pPr>
          </a:lstStyle>
          <a:p>
            <a:pPr>
              <a:defRPr/>
            </a:pPr>
            <a:r>
              <a:rPr lang="de-AT"/>
              <a:t>Platz für ein Partnerlogo</a:t>
            </a: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1444471677" name="Datumsplatzhalter 29"/>
          <p:cNvSpPr>
            <a:spLocks noGrp="1"/>
          </p:cNvSpPr>
          <p:nvPr>
            <p:ph type="dt" sz="half" idx="32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16.10.2015</a:t>
            </a:r>
            <a:endParaRPr lang="en-US"/>
          </a:p>
        </p:txBody>
      </p:sp>
      <p:sp>
        <p:nvSpPr>
          <p:cNvPr id="266178146" name="Fußzeilenplatzhalter 30"/>
          <p:cNvSpPr>
            <a:spLocks noGrp="1"/>
          </p:cNvSpPr>
          <p:nvPr>
            <p:ph type="ftr" sz="quarter" idx="33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Platz für Autor und LVA-Nummer</a:t>
            </a:r>
            <a:endParaRPr lang="en-US"/>
          </a:p>
        </p:txBody>
      </p:sp>
      <p:sp>
        <p:nvSpPr>
          <p:cNvPr id="451960051" name="Foliennummernplatzhalter 31"/>
          <p:cNvSpPr>
            <a:spLocks noGrp="1"/>
          </p:cNvSpPr>
          <p:nvPr>
            <p:ph type="sldNum" sz="quarter" idx="34"/>
          </p:nvPr>
        </p:nvSpPr>
        <p:spPr bwMode="auto"/>
        <p:txBody>
          <a:bodyPr/>
          <a:lstStyle/>
          <a:p>
            <a:pPr>
              <a:defRPr/>
            </a:pPr>
            <a:fld id="{68F3185B-C653-42AE-8B74-FF214C291574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Übersich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776334" name="Textplatzhalter 8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623093" y="636613"/>
            <a:ext cx="10845364" cy="54992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5000"/>
              </a:lnSpc>
              <a:spcBef>
                <a:spcPts val="1600"/>
              </a:spcBef>
              <a:buFontTx/>
              <a:buNone/>
              <a:defRPr sz="1700">
                <a:latin typeface="+mj-lt"/>
              </a:defRPr>
            </a:lvl1pPr>
            <a:lvl2pPr marL="285750" indent="-285750">
              <a:lnSpc>
                <a:spcPct val="105000"/>
              </a:lnSpc>
              <a:spcBef>
                <a:spcPts val="0"/>
              </a:spcBef>
              <a:buFont typeface="Arial"/>
              <a:buChar char="•"/>
              <a:defRPr sz="1500"/>
            </a:lvl2pPr>
          </a:lstStyle>
          <a:p>
            <a:pPr lvl="0">
              <a:defRPr/>
            </a:pPr>
            <a:r>
              <a:rPr lang="de-DE"/>
              <a:t>Kapitel 1</a:t>
            </a:r>
            <a:endParaRPr/>
          </a:p>
          <a:p>
            <a:pPr lvl="1">
              <a:defRPr/>
            </a:pPr>
            <a:r>
              <a:rPr lang="de-DE"/>
              <a:t>Unterkapitel 1</a:t>
            </a:r>
            <a:endParaRPr/>
          </a:p>
          <a:p>
            <a:pPr lvl="1">
              <a:defRPr/>
            </a:pPr>
            <a:r>
              <a:rPr lang="de-DE"/>
              <a:t>Unterkapitel 2</a:t>
            </a:r>
            <a:endParaRPr/>
          </a:p>
          <a:p>
            <a:pPr lvl="0">
              <a:defRPr/>
            </a:pPr>
            <a:r>
              <a:rPr lang="de-DE"/>
              <a:t>Kapitel 2</a:t>
            </a:r>
            <a:endParaRPr/>
          </a:p>
          <a:p>
            <a:pPr lvl="1">
              <a:defRPr/>
            </a:pPr>
            <a:r>
              <a:rPr lang="de-DE"/>
              <a:t>Unterkapitel 1</a:t>
            </a:r>
            <a:endParaRPr/>
          </a:p>
          <a:p>
            <a:pPr lvl="1">
              <a:defRPr/>
            </a:pPr>
            <a:r>
              <a:rPr lang="de-DE"/>
              <a:t>Unterkapitel 2</a:t>
            </a:r>
            <a:endParaRPr/>
          </a:p>
          <a:p>
            <a:pPr lvl="0">
              <a:defRPr/>
            </a:pPr>
            <a:r>
              <a:rPr lang="de-DE"/>
              <a:t>Kapitel 3</a:t>
            </a:r>
            <a:endParaRPr/>
          </a:p>
          <a:p>
            <a:pPr lvl="1">
              <a:defRPr/>
            </a:pPr>
            <a:r>
              <a:rPr lang="de-DE"/>
              <a:t>Unterkapitel 1</a:t>
            </a:r>
            <a:endParaRPr/>
          </a:p>
          <a:p>
            <a:pPr lvl="1">
              <a:defRPr/>
            </a:pPr>
            <a:r>
              <a:rPr lang="de-DE"/>
              <a:t>Unterkapitel 2</a:t>
            </a:r>
            <a:endParaRPr/>
          </a:p>
          <a:p>
            <a:pPr lvl="0">
              <a:defRPr/>
            </a:pPr>
            <a:r>
              <a:rPr lang="de-DE"/>
              <a:t>Kapitel 4</a:t>
            </a:r>
            <a:endParaRPr/>
          </a:p>
          <a:p>
            <a:pPr lvl="1">
              <a:defRPr/>
            </a:pPr>
            <a:r>
              <a:rPr lang="de-DE"/>
              <a:t>Unterkapitel 1</a:t>
            </a:r>
            <a:endParaRPr/>
          </a:p>
          <a:p>
            <a:pPr lvl="1">
              <a:defRPr/>
            </a:pPr>
            <a:r>
              <a:rPr lang="de-DE"/>
              <a:t>Unterkapitel 2</a:t>
            </a:r>
            <a:endParaRPr/>
          </a:p>
          <a:p>
            <a:pPr lvl="0">
              <a:defRPr/>
            </a:pPr>
            <a:r>
              <a:rPr lang="de-DE"/>
              <a:t>Kapitel 5</a:t>
            </a:r>
            <a:endParaRPr/>
          </a:p>
          <a:p>
            <a:pPr lvl="1">
              <a:defRPr/>
            </a:pPr>
            <a:r>
              <a:rPr lang="de-DE"/>
              <a:t>Unterkapitel 1</a:t>
            </a:r>
            <a:endParaRPr/>
          </a:p>
          <a:p>
            <a:pPr lvl="1">
              <a:defRPr/>
            </a:pPr>
            <a:r>
              <a:rPr lang="de-DE"/>
              <a:t>Unterkapitel 2</a:t>
            </a:r>
            <a:endParaRPr/>
          </a:p>
          <a:p>
            <a:pPr lvl="1">
              <a:defRPr/>
            </a:pPr>
            <a:endParaRPr lang="de-DE"/>
          </a:p>
        </p:txBody>
      </p:sp>
      <p:sp>
        <p:nvSpPr>
          <p:cNvPr id="423490355" name="Datumsplatzhalter 1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16.10.2015</a:t>
            </a:r>
            <a:endParaRPr lang="en-US"/>
          </a:p>
        </p:txBody>
      </p:sp>
      <p:sp>
        <p:nvSpPr>
          <p:cNvPr id="983599052" name="Fußzeilenplatzhalter 2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Platz für Autor und LVA-Nummer</a:t>
            </a:r>
            <a:endParaRPr lang="en-US"/>
          </a:p>
        </p:txBody>
      </p:sp>
      <p:sp>
        <p:nvSpPr>
          <p:cNvPr id="9254189" name="Foliennummernplatzhalter 3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68F3185B-C653-42AE-8B74-FF214C291574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Imagebild, schwarz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297227" name="Bildplatzhalter 6"/>
          <p:cNvSpPr>
            <a:spLocks noGrp="1"/>
          </p:cNvSpPr>
          <p:nvPr>
            <p:ph type="pic" sz="quarter" idx="13"/>
          </p:nvPr>
        </p:nvSpPr>
        <p:spPr bwMode="auto">
          <a:xfrm>
            <a:off x="0" y="0"/>
            <a:ext cx="12192000" cy="61540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75666304" name="Titel 4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Platz für</a:t>
            </a:r>
            <a:br>
              <a:rPr lang="de-DE"/>
            </a:br>
            <a:r>
              <a:rPr lang="de-DE"/>
              <a:t>Titel und großes Imagebild.</a:t>
            </a:r>
            <a:endParaRPr lang="de-AT"/>
          </a:p>
        </p:txBody>
      </p:sp>
      <p:sp>
        <p:nvSpPr>
          <p:cNvPr id="1931082307" name="Datumsplatzhalter 5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16.10.2015</a:t>
            </a:r>
            <a:endParaRPr lang="en-US"/>
          </a:p>
        </p:txBody>
      </p:sp>
      <p:sp>
        <p:nvSpPr>
          <p:cNvPr id="992914886" name="Fußzeilenplatzhalter 7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Platz für Autor und LVA-Nummer</a:t>
            </a:r>
            <a:endParaRPr lang="en-US"/>
          </a:p>
        </p:txBody>
      </p:sp>
      <p:sp>
        <p:nvSpPr>
          <p:cNvPr id="1177724187" name="Foliennummernplatzhalter 8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68F3185B-C653-42AE-8B74-FF214C291574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Imagebild, weiß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743805" name="Bildplatzhalter 6"/>
          <p:cNvSpPr>
            <a:spLocks noGrp="1"/>
          </p:cNvSpPr>
          <p:nvPr>
            <p:ph type="pic" sz="quarter" idx="13"/>
          </p:nvPr>
        </p:nvSpPr>
        <p:spPr bwMode="auto">
          <a:xfrm>
            <a:off x="0" y="0"/>
            <a:ext cx="12192000" cy="61531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740540453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Platz für</a:t>
            </a:r>
            <a:br>
              <a:rPr lang="de-DE"/>
            </a:br>
            <a:r>
              <a:rPr lang="de-DE"/>
              <a:t>Titel und großes Imagebild</a:t>
            </a:r>
            <a:endParaRPr lang="en-US"/>
          </a:p>
        </p:txBody>
      </p:sp>
      <p:sp>
        <p:nvSpPr>
          <p:cNvPr id="1244265024" name="Datumsplatzhalter 2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16.10.2015</a:t>
            </a:r>
            <a:endParaRPr lang="en-US"/>
          </a:p>
        </p:txBody>
      </p:sp>
      <p:sp>
        <p:nvSpPr>
          <p:cNvPr id="588003769" name="Fußzeilenplatzhalter 3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Platz für Autor und LVA-Nummer</a:t>
            </a:r>
            <a:endParaRPr lang="en-US"/>
          </a:p>
        </p:txBody>
      </p:sp>
      <p:sp>
        <p:nvSpPr>
          <p:cNvPr id="604765642" name="Foliennummernplatzhalter 4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68F3185B-C653-42AE-8B74-FF214C291574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897464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Platz für</a:t>
            </a:r>
            <a:br>
              <a:rPr lang="de-DE"/>
            </a:br>
            <a:r>
              <a:rPr lang="de-DE"/>
              <a:t>Titel und Text.</a:t>
            </a:r>
            <a:endParaRPr lang="en-US"/>
          </a:p>
        </p:txBody>
      </p:sp>
      <p:sp>
        <p:nvSpPr>
          <p:cNvPr id="26963554" name="Content Placeholder 2"/>
          <p:cNvSpPr>
            <a:spLocks noGrp="1"/>
          </p:cNvSpPr>
          <p:nvPr>
            <p:ph idx="1"/>
          </p:nvPr>
        </p:nvSpPr>
        <p:spPr bwMode="auto">
          <a:xfrm>
            <a:off x="471542" y="1621584"/>
            <a:ext cx="11139784" cy="4516749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609353028" name="Textplatzhalter 5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71542" y="5858820"/>
            <a:ext cx="11139784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>
              <a:defRPr/>
            </a:pPr>
            <a:r>
              <a:rPr lang="de-DE"/>
              <a:t>Quelle: Textmasterformat bearbeiten</a:t>
            </a:r>
            <a:endParaRPr/>
          </a:p>
        </p:txBody>
      </p:sp>
      <p:sp>
        <p:nvSpPr>
          <p:cNvPr id="430486705" name="Datumsplatzhalter 3"/>
          <p:cNvSpPr>
            <a:spLocks noGrp="1"/>
          </p:cNvSpPr>
          <p:nvPr>
            <p:ph type="dt" sz="half" idx="26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16.10.2015</a:t>
            </a:r>
            <a:endParaRPr lang="en-US"/>
          </a:p>
        </p:txBody>
      </p:sp>
      <p:sp>
        <p:nvSpPr>
          <p:cNvPr id="373466442" name="Fußzeilenplatzhalter 4"/>
          <p:cNvSpPr>
            <a:spLocks noGrp="1"/>
          </p:cNvSpPr>
          <p:nvPr>
            <p:ph type="ftr" sz="quarter" idx="27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Platz für Autor und LVA-Nummer</a:t>
            </a:r>
            <a:endParaRPr lang="en-US"/>
          </a:p>
        </p:txBody>
      </p:sp>
      <p:sp>
        <p:nvSpPr>
          <p:cNvPr id="1270527912" name="Foliennummernplatzhalter 5"/>
          <p:cNvSpPr>
            <a:spLocks noGrp="1"/>
          </p:cNvSpPr>
          <p:nvPr>
            <p:ph type="sldNum" sz="quarter" idx="28"/>
          </p:nvPr>
        </p:nvSpPr>
        <p:spPr bwMode="auto"/>
        <p:txBody>
          <a:bodyPr/>
          <a:lstStyle/>
          <a:p>
            <a:pPr>
              <a:defRPr/>
            </a:pPr>
            <a:fld id="{68F3185B-C653-42AE-8B74-FF214C291574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Vergleich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602064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Platz für</a:t>
            </a:r>
            <a:br>
              <a:rPr lang="de-DE"/>
            </a:br>
            <a:r>
              <a:rPr lang="de-DE"/>
              <a:t>Titel und Vergleich.</a:t>
            </a:r>
            <a:endParaRPr lang="en-US"/>
          </a:p>
        </p:txBody>
      </p:sp>
      <p:sp>
        <p:nvSpPr>
          <p:cNvPr id="177594842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76843" y="1639639"/>
            <a:ext cx="5399024" cy="451351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25568263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212918" y="1638581"/>
            <a:ext cx="5398407" cy="451351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1771986310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16.10.2015</a:t>
            </a:r>
            <a:endParaRPr lang="en-US"/>
          </a:p>
        </p:txBody>
      </p:sp>
      <p:sp>
        <p:nvSpPr>
          <p:cNvPr id="723532182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Platz für Autor und LVA-Nummer</a:t>
            </a:r>
            <a:endParaRPr lang="en-US"/>
          </a:p>
        </p:txBody>
      </p:sp>
      <p:sp>
        <p:nvSpPr>
          <p:cNvPr id="835374429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8F3185B-C653-42AE-8B74-FF214C291574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Grosses Bild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956270" name="Content Placeholder 2"/>
          <p:cNvSpPr>
            <a:spLocks noGrp="1"/>
          </p:cNvSpPr>
          <p:nvPr>
            <p:ph idx="1"/>
          </p:nvPr>
        </p:nvSpPr>
        <p:spPr bwMode="auto">
          <a:xfrm>
            <a:off x="8136701" y="1638300"/>
            <a:ext cx="3474625" cy="4510323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2116995175" name="Bildplatzhalter 7"/>
          <p:cNvSpPr>
            <a:spLocks noGrp="1"/>
          </p:cNvSpPr>
          <p:nvPr>
            <p:ph type="pic" sz="quarter" idx="13"/>
          </p:nvPr>
        </p:nvSpPr>
        <p:spPr bwMode="auto">
          <a:xfrm>
            <a:off x="575733" y="1721513"/>
            <a:ext cx="7213600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134146396" name="Textplatzhalter 5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75733" y="5864981"/>
            <a:ext cx="7213600" cy="2741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>
              <a:defRPr/>
            </a:pPr>
            <a:r>
              <a:rPr lang="de-DE"/>
              <a:t>Quelle: Textmasterformat bearbeiten</a:t>
            </a:r>
            <a:endParaRPr/>
          </a:p>
        </p:txBody>
      </p:sp>
      <p:sp>
        <p:nvSpPr>
          <p:cNvPr id="1255848734" name="Titel 4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Platz für</a:t>
            </a:r>
            <a:br>
              <a:rPr lang="de-DE"/>
            </a:br>
            <a:r>
              <a:rPr lang="de-DE"/>
              <a:t>Titel, großes Bild und Text.</a:t>
            </a:r>
            <a:endParaRPr lang="de-AT"/>
          </a:p>
        </p:txBody>
      </p:sp>
      <p:sp>
        <p:nvSpPr>
          <p:cNvPr id="689252250" name="Datumsplatzhalter 1"/>
          <p:cNvSpPr>
            <a:spLocks noGrp="1"/>
          </p:cNvSpPr>
          <p:nvPr>
            <p:ph type="dt" sz="half" idx="26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16.10.2015</a:t>
            </a:r>
            <a:endParaRPr lang="en-US"/>
          </a:p>
        </p:txBody>
      </p:sp>
      <p:sp>
        <p:nvSpPr>
          <p:cNvPr id="1253652086" name="Fußzeilenplatzhalter 3"/>
          <p:cNvSpPr>
            <a:spLocks noGrp="1"/>
          </p:cNvSpPr>
          <p:nvPr>
            <p:ph type="ftr" sz="quarter" idx="27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Platz für Autor und LVA-Nummer</a:t>
            </a:r>
            <a:endParaRPr lang="en-US"/>
          </a:p>
        </p:txBody>
      </p:sp>
      <p:sp>
        <p:nvSpPr>
          <p:cNvPr id="953952420" name="Foliennummernplatzhalter 5"/>
          <p:cNvSpPr>
            <a:spLocks noGrp="1"/>
          </p:cNvSpPr>
          <p:nvPr>
            <p:ph type="sldNum" sz="quarter" idx="28"/>
          </p:nvPr>
        </p:nvSpPr>
        <p:spPr bwMode="auto"/>
        <p:txBody>
          <a:bodyPr/>
          <a:lstStyle/>
          <a:p>
            <a:pPr>
              <a:defRPr/>
            </a:pPr>
            <a:fld id="{68F3185B-C653-42AE-8B74-FF214C291574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Formel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242187" name="Bildplatzhalter 7"/>
          <p:cNvSpPr>
            <a:spLocks noGrp="1"/>
          </p:cNvSpPr>
          <p:nvPr>
            <p:ph type="pic" sz="quarter" idx="13"/>
          </p:nvPr>
        </p:nvSpPr>
        <p:spPr bwMode="auto">
          <a:xfrm>
            <a:off x="2069754" y="1724299"/>
            <a:ext cx="8075595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92672040" name="Textplatzhalter 5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2048933" y="5863959"/>
            <a:ext cx="8096416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>
              <a:defRPr/>
            </a:pPr>
            <a:r>
              <a:rPr lang="de-DE"/>
              <a:t>Quelle: Textmasterformat bearbeiten</a:t>
            </a:r>
            <a:endParaRPr/>
          </a:p>
        </p:txBody>
      </p:sp>
      <p:sp>
        <p:nvSpPr>
          <p:cNvPr id="1837793352" name="Titel 3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Platz für</a:t>
            </a:r>
            <a:br>
              <a:rPr lang="de-DE"/>
            </a:br>
            <a:r>
              <a:rPr lang="de-DE"/>
              <a:t>Titel und Formeln.</a:t>
            </a:r>
            <a:endParaRPr lang="de-AT"/>
          </a:p>
        </p:txBody>
      </p:sp>
      <p:sp>
        <p:nvSpPr>
          <p:cNvPr id="1710590687" name="Datumsplatzhalter 1"/>
          <p:cNvSpPr>
            <a:spLocks noGrp="1"/>
          </p:cNvSpPr>
          <p:nvPr>
            <p:ph type="dt" sz="half" idx="26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16.10.2015</a:t>
            </a:r>
            <a:endParaRPr lang="en-US"/>
          </a:p>
        </p:txBody>
      </p:sp>
      <p:sp>
        <p:nvSpPr>
          <p:cNvPr id="308455124" name="Fußzeilenplatzhalter 4"/>
          <p:cNvSpPr>
            <a:spLocks noGrp="1"/>
          </p:cNvSpPr>
          <p:nvPr>
            <p:ph type="ftr" sz="quarter" idx="27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Platz für Autor und LVA-Nummer</a:t>
            </a:r>
            <a:endParaRPr lang="en-US"/>
          </a:p>
        </p:txBody>
      </p:sp>
      <p:sp>
        <p:nvSpPr>
          <p:cNvPr id="697377417" name="Foliennummernplatzhalter 5"/>
          <p:cNvSpPr>
            <a:spLocks noGrp="1"/>
          </p:cNvSpPr>
          <p:nvPr>
            <p:ph type="sldNum" sz="quarter" idx="28"/>
          </p:nvPr>
        </p:nvSpPr>
        <p:spPr bwMode="auto"/>
        <p:txBody>
          <a:bodyPr/>
          <a:lstStyle/>
          <a:p>
            <a:pPr>
              <a:defRPr/>
            </a:pPr>
            <a:fld id="{68F3185B-C653-42AE-8B74-FF214C291574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Vide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47258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Platz für</a:t>
            </a:r>
            <a:br>
              <a:rPr lang="de-DE"/>
            </a:br>
            <a:r>
              <a:rPr lang="de-DE"/>
              <a:t>Titel und Video.</a:t>
            </a:r>
            <a:endParaRPr lang="de-AT"/>
          </a:p>
        </p:txBody>
      </p:sp>
      <p:sp>
        <p:nvSpPr>
          <p:cNvPr id="827783978" name="Medienplatzhalter 6"/>
          <p:cNvSpPr>
            <a:spLocks noGrp="1"/>
          </p:cNvSpPr>
          <p:nvPr>
            <p:ph type="media" sz="quarter" idx="13"/>
          </p:nvPr>
        </p:nvSpPr>
        <p:spPr bwMode="auto">
          <a:xfrm>
            <a:off x="575733" y="1724302"/>
            <a:ext cx="11035593" cy="441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de-DE"/>
              <a:t>Mediaclip durch Klicken auf Symbol hinzufügen</a:t>
            </a:r>
            <a:endParaRPr lang="de-AT"/>
          </a:p>
        </p:txBody>
      </p:sp>
      <p:sp>
        <p:nvSpPr>
          <p:cNvPr id="1720103425" name="Textplatzhalter 5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75733" y="5865691"/>
            <a:ext cx="11035593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>
              <a:defRPr/>
            </a:pPr>
            <a:r>
              <a:rPr lang="de-DE"/>
              <a:t>Quelle: Textmasterformat bearbeiten</a:t>
            </a:r>
            <a:endParaRPr/>
          </a:p>
        </p:txBody>
      </p:sp>
      <p:sp>
        <p:nvSpPr>
          <p:cNvPr id="1057015293" name="Datumsplatzhalter 2"/>
          <p:cNvSpPr>
            <a:spLocks noGrp="1"/>
          </p:cNvSpPr>
          <p:nvPr>
            <p:ph type="dt" sz="half" idx="26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16.10.2015</a:t>
            </a:r>
            <a:endParaRPr lang="en-US"/>
          </a:p>
        </p:txBody>
      </p:sp>
      <p:sp>
        <p:nvSpPr>
          <p:cNvPr id="410620173" name="Fußzeilenplatzhalter 3"/>
          <p:cNvSpPr>
            <a:spLocks noGrp="1"/>
          </p:cNvSpPr>
          <p:nvPr>
            <p:ph type="ftr" sz="quarter" idx="27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Platz für Autor und LVA-Nummer</a:t>
            </a:r>
            <a:endParaRPr lang="en-US"/>
          </a:p>
        </p:txBody>
      </p:sp>
      <p:sp>
        <p:nvSpPr>
          <p:cNvPr id="236165708" name="Foliennummernplatzhalter 4"/>
          <p:cNvSpPr>
            <a:spLocks noGrp="1"/>
          </p:cNvSpPr>
          <p:nvPr>
            <p:ph type="sldNum" sz="quarter" idx="28"/>
          </p:nvPr>
        </p:nvSpPr>
        <p:spPr bwMode="auto"/>
        <p:txBody>
          <a:bodyPr/>
          <a:lstStyle/>
          <a:p>
            <a:pPr>
              <a:defRPr/>
            </a:pPr>
            <a:fld id="{68F3185B-C653-42AE-8B74-FF214C291574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 kleine Bilder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0778849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Platz für</a:t>
            </a:r>
            <a:br>
              <a:rPr lang="de-DE"/>
            </a:br>
            <a:r>
              <a:rPr lang="de-DE"/>
              <a:t>Titel, 3 kleine Bilder und Text.</a:t>
            </a:r>
            <a:endParaRPr lang="en-US"/>
          </a:p>
        </p:txBody>
      </p:sp>
      <p:sp>
        <p:nvSpPr>
          <p:cNvPr id="958350292" name="Content Placeholder 2"/>
          <p:cNvSpPr>
            <a:spLocks noGrp="1"/>
          </p:cNvSpPr>
          <p:nvPr>
            <p:ph idx="1"/>
          </p:nvPr>
        </p:nvSpPr>
        <p:spPr bwMode="auto">
          <a:xfrm>
            <a:off x="4388100" y="1639035"/>
            <a:ext cx="7223226" cy="4504536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756911907" name="Bildplatzhalter 7"/>
          <p:cNvSpPr>
            <a:spLocks noGrp="1"/>
          </p:cNvSpPr>
          <p:nvPr>
            <p:ph type="pic" sz="quarter" idx="13"/>
          </p:nvPr>
        </p:nvSpPr>
        <p:spPr bwMode="auto">
          <a:xfrm>
            <a:off x="577711" y="1725845"/>
            <a:ext cx="3393156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392142469" name="Bildplatzhalter 7"/>
          <p:cNvSpPr>
            <a:spLocks noGrp="1"/>
          </p:cNvSpPr>
          <p:nvPr>
            <p:ph type="pic" sz="quarter" idx="14"/>
          </p:nvPr>
        </p:nvSpPr>
        <p:spPr bwMode="auto">
          <a:xfrm>
            <a:off x="577703" y="3254918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892215213" name="Bildplatzhalter 7"/>
          <p:cNvSpPr>
            <a:spLocks noGrp="1"/>
          </p:cNvSpPr>
          <p:nvPr>
            <p:ph type="pic" sz="quarter" idx="15"/>
          </p:nvPr>
        </p:nvSpPr>
        <p:spPr bwMode="auto">
          <a:xfrm>
            <a:off x="577703" y="4775571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458782448" name="Rechteck 13"/>
          <p:cNvSpPr/>
          <p:nvPr userDrawn="1"/>
        </p:nvSpPr>
        <p:spPr bwMode="auto">
          <a:xfrm>
            <a:off x="4911547" y="1444171"/>
            <a:ext cx="626533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AT" sz="1800"/>
          </a:p>
        </p:txBody>
      </p:sp>
      <p:sp>
        <p:nvSpPr>
          <p:cNvPr id="215142614" name="Datumsplatzhalter 3"/>
          <p:cNvSpPr>
            <a:spLocks noGrp="1"/>
          </p:cNvSpPr>
          <p:nvPr>
            <p:ph type="dt" sz="half" idx="16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16.10.2015</a:t>
            </a:r>
            <a:endParaRPr lang="en-US"/>
          </a:p>
        </p:txBody>
      </p:sp>
      <p:sp>
        <p:nvSpPr>
          <p:cNvPr id="542668809" name="Fußzeilenplatzhalter 4"/>
          <p:cNvSpPr>
            <a:spLocks noGrp="1"/>
          </p:cNvSpPr>
          <p:nvPr>
            <p:ph type="ftr" sz="quarter" idx="17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Platz für Autor und LVA-Nummer</a:t>
            </a:r>
            <a:endParaRPr lang="en-US"/>
          </a:p>
        </p:txBody>
      </p:sp>
      <p:sp>
        <p:nvSpPr>
          <p:cNvPr id="852708313" name="Foliennummernplatzhalter 5"/>
          <p:cNvSpPr>
            <a:spLocks noGrp="1"/>
          </p:cNvSpPr>
          <p:nvPr>
            <p:ph type="sldNum" sz="quarter" idx="18"/>
          </p:nvPr>
        </p:nvSpPr>
        <p:spPr bwMode="auto"/>
        <p:txBody>
          <a:bodyPr/>
          <a:lstStyle/>
          <a:p>
            <a:pPr>
              <a:defRPr/>
            </a:pPr>
            <a:fld id="{68F3185B-C653-42AE-8B74-FF214C291574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chmales Bild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411885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Platz für</a:t>
            </a:r>
            <a:br>
              <a:rPr lang="de-DE"/>
            </a:br>
            <a:r>
              <a:rPr lang="de-DE"/>
              <a:t>Titel, schmales Bild und Text.</a:t>
            </a:r>
            <a:endParaRPr lang="en-US"/>
          </a:p>
        </p:txBody>
      </p:sp>
      <p:sp>
        <p:nvSpPr>
          <p:cNvPr id="1073126170" name="Content Placeholder 2"/>
          <p:cNvSpPr>
            <a:spLocks noGrp="1"/>
          </p:cNvSpPr>
          <p:nvPr>
            <p:ph idx="1"/>
          </p:nvPr>
        </p:nvSpPr>
        <p:spPr bwMode="auto">
          <a:xfrm>
            <a:off x="4386048" y="1643149"/>
            <a:ext cx="7225278" cy="4498351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1526858348" name="Bildplatzhalter 7"/>
          <p:cNvSpPr>
            <a:spLocks noGrp="1"/>
          </p:cNvSpPr>
          <p:nvPr>
            <p:ph type="pic" sz="quarter" idx="13"/>
          </p:nvPr>
        </p:nvSpPr>
        <p:spPr bwMode="auto">
          <a:xfrm>
            <a:off x="575733" y="1724300"/>
            <a:ext cx="3395133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873447732" name="Datumsplatzhalter 3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16.10.2015</a:t>
            </a:r>
            <a:endParaRPr lang="en-US"/>
          </a:p>
        </p:txBody>
      </p:sp>
      <p:sp>
        <p:nvSpPr>
          <p:cNvPr id="1341925318" name="Fußzeilenplatzhalter 4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Platz für Autor und LVA-Nummer</a:t>
            </a:r>
            <a:endParaRPr lang="en-US"/>
          </a:p>
        </p:txBody>
      </p:sp>
      <p:sp>
        <p:nvSpPr>
          <p:cNvPr id="1543026363" name="Foliennummernplatzhalter 5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68F3185B-C653-42AE-8B74-FF214C291574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848151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Platz für</a:t>
            </a:r>
            <a:br>
              <a:rPr lang="de-DE"/>
            </a:br>
            <a:r>
              <a:rPr lang="de-DE"/>
              <a:t>Titel, Diagramme und Tabellen.</a:t>
            </a:r>
            <a:endParaRPr lang="de-AT"/>
          </a:p>
        </p:txBody>
      </p:sp>
      <p:sp>
        <p:nvSpPr>
          <p:cNvPr id="1671125789" name="Datumsplatzhalter 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AT"/>
              <a:t>16.10.2015</a:t>
            </a:r>
            <a:endParaRPr lang="en-US"/>
          </a:p>
        </p:txBody>
      </p:sp>
      <p:sp>
        <p:nvSpPr>
          <p:cNvPr id="2107333775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Platz für Autor und LVA-Nummer</a:t>
            </a:r>
            <a:endParaRPr lang="en-US"/>
          </a:p>
        </p:txBody>
      </p:sp>
      <p:sp>
        <p:nvSpPr>
          <p:cNvPr id="1292683196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8F3185B-C653-42AE-8B74-FF214C291574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png"/><Relationship Id="rId21" Type="http://schemas.openxmlformats.org/officeDocument/2006/relationships/image" Target="../media/media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026984" name="Title Placeholder 1"/>
          <p:cNvSpPr>
            <a:spLocks noGrp="1"/>
          </p:cNvSpPr>
          <p:nvPr>
            <p:ph type="title"/>
          </p:nvPr>
        </p:nvSpPr>
        <p:spPr bwMode="auto">
          <a:xfrm>
            <a:off x="487122" y="575031"/>
            <a:ext cx="11124204" cy="9898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3600"/>
            </a:lvl1pPr>
          </a:lstStyle>
          <a:p>
            <a:pPr>
              <a:defRPr/>
            </a:pPr>
            <a:r>
              <a:rPr lang="de-DE"/>
              <a:t>Titelmusterformat durch Klicken bearbeiten.</a:t>
            </a:r>
            <a:endParaRPr lang="en-US"/>
          </a:p>
        </p:txBody>
      </p:sp>
      <p:sp>
        <p:nvSpPr>
          <p:cNvPr id="150250346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9425432" y="6356982"/>
            <a:ext cx="817754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de-AT"/>
              <a:t>16.10.2015</a:t>
            </a:r>
            <a:endParaRPr lang="en-US"/>
          </a:p>
        </p:txBody>
      </p:sp>
      <p:sp>
        <p:nvSpPr>
          <p:cNvPr id="46976768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5890366" y="6348972"/>
            <a:ext cx="242504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Platz für Autor und LVA-Nummer</a:t>
            </a:r>
            <a:endParaRPr lang="en-US"/>
          </a:p>
        </p:txBody>
      </p:sp>
      <p:sp>
        <p:nvSpPr>
          <p:cNvPr id="139671187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1020654" y="6358497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68F3185B-C653-42AE-8B74-FF214C291574}" type="slidenum">
              <a:rPr lang="en-US"/>
              <a:t>‹Nr.›</a:t>
            </a:fld>
            <a:endParaRPr lang="en-US"/>
          </a:p>
        </p:txBody>
      </p:sp>
      <p:pic>
        <p:nvPicPr>
          <p:cNvPr id="177967180" name="Grafik 29"/>
          <p:cNvPicPr>
            <a:picLocks noChangeAspect="1"/>
          </p:cNvPicPr>
          <p:nvPr userDrawn="1"/>
        </p:nvPicPr>
        <p:blipFill rotWithShape="1"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/>
        </p:blipFill>
        <p:spPr bwMode="auto">
          <a:xfrm>
            <a:off x="749509" y="6350400"/>
            <a:ext cx="2359953" cy="278203"/>
          </a:xfrm>
          <a:prstGeom prst="rect">
            <a:avLst/>
          </a:prstGeom>
        </p:spPr>
      </p:pic>
      <p:sp>
        <p:nvSpPr>
          <p:cNvPr id="624280052" name="Textplatzhalter 32"/>
          <p:cNvSpPr>
            <a:spLocks noGrp="1"/>
          </p:cNvSpPr>
          <p:nvPr>
            <p:ph type="body" idx="1"/>
          </p:nvPr>
        </p:nvSpPr>
        <p:spPr bwMode="auto">
          <a:xfrm>
            <a:off x="470188" y="1619798"/>
            <a:ext cx="11141138" cy="4513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600"/>
            </a:lvl3pPr>
            <a:lvl4pPr>
              <a:defRPr sz="2600"/>
            </a:lvl4pPr>
            <a:lvl5pPr>
              <a:defRPr sz="2600"/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>
        <a:lnSpc>
          <a:spcPct val="83000"/>
        </a:lnSpc>
        <a:spcBef>
          <a:spcPts val="0"/>
        </a:spcBef>
        <a:buNone/>
        <a:defRPr sz="3000" cap="none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>
        <a:lnSpc>
          <a:spcPct val="105000"/>
        </a:lnSpc>
        <a:spcBef>
          <a:spcPts val="800"/>
        </a:spcBef>
        <a:buSzPct val="120000"/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>
        <a:lnSpc>
          <a:spcPct val="105000"/>
        </a:lnSpc>
        <a:spcBef>
          <a:spcPts val="0"/>
        </a:spcBef>
        <a:buSzPct val="125000"/>
        <a:buFont typeface="Arial"/>
        <a:buChar char="◦"/>
        <a:defRPr sz="20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>
        <a:lnSpc>
          <a:spcPct val="105000"/>
        </a:lnSpc>
        <a:spcBef>
          <a:spcPts val="0"/>
        </a:spcBef>
        <a:buSzPct val="85000"/>
        <a:buFont typeface="Wingdings"/>
        <a:buChar char=""/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>
        <a:lnSpc>
          <a:spcPct val="105000"/>
        </a:lnSpc>
        <a:spcBef>
          <a:spcPts val="0"/>
        </a:spcBef>
        <a:buSzPct val="110000"/>
        <a:buFont typeface="Arial"/>
        <a:buChar char="-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>
        <a:lnSpc>
          <a:spcPct val="105000"/>
        </a:lnSpc>
        <a:spcBef>
          <a:spcPts val="0"/>
        </a:spcBef>
        <a:buSzPct val="65000"/>
        <a:buFont typeface="Wingdings 2"/>
        <a:buChar char="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7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400820" name="Untertitel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485736" y="5412163"/>
            <a:ext cx="9212078" cy="1302960"/>
          </a:xfrm>
        </p:spPr>
        <p:txBody>
          <a:bodyPr/>
          <a:lstStyle/>
          <a:p>
            <a:pPr>
              <a:defRPr/>
            </a:pPr>
            <a:r>
              <a:rPr lang="en-US"/>
              <a:t>Daniel Netzl, BSc.</a:t>
            </a:r>
            <a:endParaRPr lang="en-US"/>
          </a:p>
          <a:p>
            <a:pPr>
              <a:defRPr/>
            </a:pPr>
            <a:r>
              <a:rPr lang="en-US"/>
              <a:t>Master’s Thesis Defense</a:t>
            </a:r>
            <a:endParaRPr lang="en-US"/>
          </a:p>
          <a:p>
            <a:pPr>
              <a:defRPr/>
            </a:pPr>
            <a:r>
              <a:rPr lang="en-US"/>
              <a:t>Supervisors: Univ.-Prof. Dr. Uli Meyer &amp; </a:t>
            </a:r>
            <a:r>
              <a:rPr lang="en-US"/>
              <a:t> Dr. René Werner</a:t>
            </a:r>
            <a:endParaRPr lang="en-US"/>
          </a:p>
        </p:txBody>
      </p:sp>
      <p:sp>
        <p:nvSpPr>
          <p:cNvPr id="531003477" name="Titel 1"/>
          <p:cNvSpPr>
            <a:spLocks noGrp="1"/>
          </p:cNvSpPr>
          <p:nvPr>
            <p:ph type="title"/>
          </p:nvPr>
        </p:nvSpPr>
        <p:spPr bwMode="auto">
          <a:xfrm flipH="0" flipV="0">
            <a:off x="475589" y="761999"/>
            <a:ext cx="9222225" cy="2554281"/>
          </a:xfrm>
        </p:spPr>
        <p:txBody>
          <a:bodyPr/>
          <a:lstStyle/>
          <a:p>
            <a:pPr>
              <a:defRPr/>
            </a:pPr>
            <a:r>
              <a:rPr lang="af-ZA" sz="4500" b="0" i="0" u="none" strike="noStrike" cap="none" spc="0"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Power and Sustainability</a:t>
            </a:r>
            <a:endParaRPr lang="af-ZA" sz="4500" b="0" i="0" u="none" strike="noStrike" cap="none" spc="0">
              <a:solidFill>
                <a:schemeClr val="bg1"/>
              </a:solidFill>
              <a:latin typeface="Arial Black"/>
              <a:cs typeface="Arial Black"/>
            </a:endParaRPr>
          </a:p>
          <a:p>
            <a:pPr>
              <a:defRPr/>
            </a:pPr>
            <a:r>
              <a:rPr lang="af-ZA" sz="4500" b="0" i="0" u="none" strike="noStrike" cap="none" spc="0"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in EU AI Governance: </a:t>
            </a:r>
            <a:br>
              <a:rPr lang="af-ZA" sz="4500" b="0" i="0" u="none" strike="noStrike" cap="none" spc="0"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</a:br>
            <a:r>
              <a:rPr lang="af-ZA" sz="4500" b="0" i="0" u="none" strike="noStrike" cap="none" spc="0"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A</a:t>
            </a:r>
            <a:r>
              <a:rPr lang="en-US" sz="4500" b="0" i="0" u="none" strike="noStrike" cap="none" spc="0"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lang="af-ZA" sz="4500" b="0" i="0" u="none" strike="noStrike" cap="none" spc="0"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Social Network Analysis</a:t>
            </a:r>
            <a:endParaRPr lang="af-ZA" sz="4500" b="0" i="0" u="none" strike="noStrike" cap="none" spc="0">
              <a:solidFill>
                <a:schemeClr val="bg1"/>
              </a:solidFill>
              <a:latin typeface="Arial Black"/>
              <a:cs typeface="Arial Black"/>
            </a:endParaRPr>
          </a:p>
          <a:p>
            <a:pPr>
              <a:defRPr/>
            </a:pPr>
            <a:r>
              <a:rPr lang="af-ZA" sz="4500" b="0" i="0" u="none" strike="noStrike" cap="none" spc="0"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of Policy Actors</a:t>
            </a:r>
            <a:endParaRPr/>
          </a:p>
        </p:txBody>
      </p:sp>
      <p:sp>
        <p:nvSpPr>
          <p:cNvPr id="778259213" name="Bildplatzhalter 5"/>
          <p:cNvSpPr>
            <a:spLocks noGrp="1"/>
          </p:cNvSpPr>
          <p:nvPr>
            <p:ph type="pic" sz="quarter" idx="10"/>
          </p:nvPr>
        </p:nvSpPr>
        <p:spPr bwMode="auto"/>
      </p:sp>
      <p:sp>
        <p:nvSpPr>
          <p:cNvPr id="830952618" name="Bildplatzhalter 6"/>
          <p:cNvSpPr>
            <a:spLocks noGrp="1"/>
          </p:cNvSpPr>
          <p:nvPr>
            <p:ph type="pic" sz="quarter" idx="11"/>
          </p:nvPr>
        </p:nvSpPr>
        <p:spPr bwMode="auto"/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177956" name="TextBox 2"/>
          <p:cNvSpPr txBox="1"/>
          <p:nvPr/>
        </p:nvSpPr>
        <p:spPr bwMode="auto">
          <a:xfrm flipH="0" flipV="0">
            <a:off x="-28242" y="800100"/>
            <a:ext cx="12203906" cy="52196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/>
          <a:p>
            <a:pPr marL="0" algn="ctr">
              <a:defRPr/>
            </a:pPr>
            <a:r>
              <a:rPr lang="en-US" sz="4500" b="0" i="0" u="none">
                <a:solidFill>
                  <a:srgbClr val="4CAC4E"/>
                </a:solidFill>
                <a:latin typeface="Arial Black"/>
                <a:ea typeface="Arial Black"/>
                <a:cs typeface="Arial Black"/>
              </a:rPr>
              <a:t>CONTENTS</a:t>
            </a:r>
            <a:endParaRPr sz="1100">
              <a:solidFill>
                <a:srgbClr val="4CAC4E"/>
              </a:solidFill>
              <a:latin typeface="Arial"/>
              <a:cs typeface="Arial"/>
            </a:endParaRPr>
          </a:p>
        </p:txBody>
      </p:sp>
      <p:grpSp>
        <p:nvGrpSpPr>
          <p:cNvPr id="1378608552" name=""/>
          <p:cNvGrpSpPr/>
          <p:nvPr/>
        </p:nvGrpSpPr>
        <p:grpSpPr bwMode="auto">
          <a:xfrm>
            <a:off x="929917" y="1958340"/>
            <a:ext cx="10469274" cy="2448558"/>
            <a:chOff x="0" y="0"/>
            <a:chExt cx="10469274" cy="2448558"/>
          </a:xfrm>
        </p:grpSpPr>
        <p:sp>
          <p:nvSpPr>
            <p:cNvPr id="1283812236" name="TextBox 3"/>
            <p:cNvSpPr txBox="1"/>
            <p:nvPr/>
          </p:nvSpPr>
          <p:spPr bwMode="auto">
            <a:xfrm>
              <a:off x="1407272" y="0"/>
              <a:ext cx="3252469" cy="977899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noAutofit/>
            </a:bodyPr>
            <a:lstStyle/>
            <a:p>
              <a:pPr marL="0" indent="0" algn="l">
                <a:lnSpc>
                  <a:spcPct val="120000"/>
                </a:lnSpc>
                <a:spcBef>
                  <a:spcPts val="0"/>
                </a:spcBef>
                <a:defRPr/>
              </a:pPr>
              <a:r>
                <a:rPr lang="en-US" sz="2200" b="0" i="0" u="none">
                  <a:solidFill>
                    <a:srgbClr val="4CAC4E"/>
                  </a:solidFill>
                  <a:latin typeface="Arial"/>
                  <a:ea typeface="Arial"/>
                  <a:cs typeface="Arial"/>
                </a:rPr>
                <a:t>Introduction and Research Context</a:t>
              </a:r>
              <a:endParaRPr sz="1100">
                <a:solidFill>
                  <a:srgbClr val="4CAC4E"/>
                </a:solidFill>
                <a:latin typeface="Arial"/>
                <a:cs typeface="Arial"/>
              </a:endParaRPr>
            </a:p>
          </p:txBody>
        </p:sp>
        <p:sp>
          <p:nvSpPr>
            <p:cNvPr id="1493870215" name="TextBox 4"/>
            <p:cNvSpPr txBox="1"/>
            <p:nvPr/>
          </p:nvSpPr>
          <p:spPr bwMode="auto">
            <a:xfrm>
              <a:off x="0" y="0"/>
              <a:ext cx="1602000" cy="82994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normAutofit/>
            </a:bodyPr>
            <a:lstStyle/>
            <a:p>
              <a:pPr marL="0" algn="ctr">
                <a:defRPr/>
              </a:pPr>
              <a:r>
                <a:rPr lang="en-US" sz="3800" b="1" i="0" u="none" spc="99">
                  <a:solidFill>
                    <a:srgbClr val="4CAC4E"/>
                  </a:solidFill>
                  <a:latin typeface="Arial"/>
                  <a:ea typeface="Arial"/>
                  <a:cs typeface="Arial"/>
                </a:rPr>
                <a:t>01</a:t>
              </a:r>
              <a:endParaRPr sz="1100">
                <a:solidFill>
                  <a:srgbClr val="4CAC4E"/>
                </a:solidFill>
                <a:latin typeface="Arial"/>
                <a:cs typeface="Arial"/>
              </a:endParaRPr>
            </a:p>
          </p:txBody>
        </p:sp>
        <p:sp>
          <p:nvSpPr>
            <p:cNvPr id="16298591" name="TextBox 6"/>
            <p:cNvSpPr txBox="1"/>
            <p:nvPr/>
          </p:nvSpPr>
          <p:spPr bwMode="auto">
            <a:xfrm flipH="0" flipV="0">
              <a:off x="6573354" y="0"/>
              <a:ext cx="3895918" cy="977899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noAutofit/>
            </a:bodyPr>
            <a:lstStyle/>
            <a:p>
              <a:pPr marL="0" indent="0" algn="l">
                <a:lnSpc>
                  <a:spcPct val="120000"/>
                </a:lnSpc>
                <a:spcBef>
                  <a:spcPts val="0"/>
                </a:spcBef>
                <a:defRPr/>
              </a:pPr>
              <a:r>
                <a:rPr lang="en-US" sz="2200" b="0" i="0" u="none" strike="noStrike" cap="none" spc="0">
                  <a:solidFill>
                    <a:srgbClr val="4CAC4E"/>
                  </a:solidFill>
                  <a:latin typeface="Arial"/>
                  <a:ea typeface="Arial"/>
                  <a:cs typeface="Arial"/>
                </a:rPr>
                <a:t>Theoretical Frameworks and Analytical Approaches</a:t>
              </a:r>
              <a:endParaRPr sz="1100">
                <a:solidFill>
                  <a:srgbClr val="4CAC4E"/>
                </a:solidFill>
                <a:latin typeface="Arial"/>
                <a:cs typeface="Arial"/>
              </a:endParaRPr>
            </a:p>
          </p:txBody>
        </p:sp>
        <p:sp>
          <p:nvSpPr>
            <p:cNvPr id="660154784" name="TextBox 7"/>
            <p:cNvSpPr txBox="1"/>
            <p:nvPr/>
          </p:nvSpPr>
          <p:spPr bwMode="auto">
            <a:xfrm>
              <a:off x="5166082" y="0"/>
              <a:ext cx="1602000" cy="82994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normAutofit/>
            </a:bodyPr>
            <a:lstStyle/>
            <a:p>
              <a:pPr marL="0" algn="ctr">
                <a:defRPr/>
              </a:pPr>
              <a:r>
                <a:rPr lang="en-US" sz="3800" b="1" i="0" u="none" spc="99">
                  <a:solidFill>
                    <a:srgbClr val="4CAC4E"/>
                  </a:solidFill>
                  <a:latin typeface="Arial"/>
                  <a:ea typeface="Arial"/>
                  <a:cs typeface="Arial"/>
                </a:rPr>
                <a:t>02</a:t>
              </a:r>
              <a:endParaRPr sz="1100">
                <a:solidFill>
                  <a:srgbClr val="4CAC4E"/>
                </a:solidFill>
                <a:latin typeface="Arial"/>
                <a:cs typeface="Arial"/>
              </a:endParaRPr>
            </a:p>
          </p:txBody>
        </p:sp>
        <p:sp>
          <p:nvSpPr>
            <p:cNvPr id="2009558699" name="TextBox 9"/>
            <p:cNvSpPr txBox="1"/>
            <p:nvPr/>
          </p:nvSpPr>
          <p:spPr bwMode="auto">
            <a:xfrm flipH="0" flipV="0">
              <a:off x="1407272" y="1470658"/>
              <a:ext cx="4180438" cy="977899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noAutofit/>
            </a:bodyPr>
            <a:lstStyle/>
            <a:p>
              <a:pPr marL="0" indent="0" algn="l">
                <a:lnSpc>
                  <a:spcPct val="120000"/>
                </a:lnSpc>
                <a:spcBef>
                  <a:spcPts val="0"/>
                </a:spcBef>
                <a:defRPr/>
              </a:pPr>
              <a:r>
                <a:rPr lang="en-US" sz="2200" b="0" i="0" u="none" strike="noStrike" cap="none" spc="0">
                  <a:solidFill>
                    <a:srgbClr val="4CAC4E"/>
                  </a:solidFill>
                  <a:latin typeface="Arial"/>
                  <a:ea typeface="Arial"/>
                  <a:cs typeface="Arial"/>
                </a:rPr>
                <a:t>Empirical Analysis of EU AI Governance</a:t>
              </a:r>
              <a:endParaRPr sz="1100">
                <a:solidFill>
                  <a:srgbClr val="4CAC4E"/>
                </a:solidFill>
                <a:latin typeface="Arial"/>
                <a:cs typeface="Arial"/>
              </a:endParaRPr>
            </a:p>
          </p:txBody>
        </p:sp>
        <p:sp>
          <p:nvSpPr>
            <p:cNvPr id="422325641" name="TextBox 10"/>
            <p:cNvSpPr txBox="1"/>
            <p:nvPr/>
          </p:nvSpPr>
          <p:spPr bwMode="auto">
            <a:xfrm>
              <a:off x="0" y="1470658"/>
              <a:ext cx="1602000" cy="82994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normAutofit/>
            </a:bodyPr>
            <a:lstStyle/>
            <a:p>
              <a:pPr marL="0" algn="ctr">
                <a:defRPr/>
              </a:pPr>
              <a:r>
                <a:rPr lang="en-US" sz="3800" b="1" i="0" u="none" spc="99">
                  <a:solidFill>
                    <a:srgbClr val="4CAC4E"/>
                  </a:solidFill>
                  <a:latin typeface="Arial"/>
                  <a:ea typeface="Arial"/>
                  <a:cs typeface="Arial"/>
                </a:rPr>
                <a:t>03</a:t>
              </a:r>
              <a:endParaRPr sz="1100">
                <a:solidFill>
                  <a:srgbClr val="4CAC4E"/>
                </a:solidFill>
                <a:latin typeface="Arial"/>
                <a:cs typeface="Arial"/>
              </a:endParaRPr>
            </a:p>
          </p:txBody>
        </p:sp>
        <p:sp>
          <p:nvSpPr>
            <p:cNvPr id="1334947081" name="TextBox 12"/>
            <p:cNvSpPr txBox="1"/>
            <p:nvPr/>
          </p:nvSpPr>
          <p:spPr bwMode="auto">
            <a:xfrm>
              <a:off x="6573354" y="1470658"/>
              <a:ext cx="3252469" cy="977899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noAutofit/>
            </a:bodyPr>
            <a:lstStyle/>
            <a:p>
              <a:pPr marL="0" indent="0" algn="l">
                <a:lnSpc>
                  <a:spcPct val="120000"/>
                </a:lnSpc>
                <a:spcBef>
                  <a:spcPts val="0"/>
                </a:spcBef>
                <a:defRPr/>
              </a:pPr>
              <a:r>
                <a:rPr lang="en-US" sz="2200" b="0" i="0" u="none" strike="noStrike" cap="none" spc="0">
                  <a:solidFill>
                    <a:srgbClr val="4CAC4E"/>
                  </a:solidFill>
                  <a:latin typeface="Arial"/>
                  <a:ea typeface="Arial"/>
                  <a:cs typeface="Arial"/>
                </a:rPr>
                <a:t>Discussion and Implications</a:t>
              </a:r>
              <a:endParaRPr sz="1100">
                <a:solidFill>
                  <a:srgbClr val="4CAC4E"/>
                </a:solidFill>
                <a:latin typeface="Arial"/>
                <a:cs typeface="Arial"/>
              </a:endParaRPr>
            </a:p>
          </p:txBody>
        </p:sp>
        <p:sp>
          <p:nvSpPr>
            <p:cNvPr id="756589540" name="TextBox 13"/>
            <p:cNvSpPr txBox="1"/>
            <p:nvPr/>
          </p:nvSpPr>
          <p:spPr bwMode="auto">
            <a:xfrm>
              <a:off x="5166082" y="1470658"/>
              <a:ext cx="1602000" cy="82994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normAutofit/>
            </a:bodyPr>
            <a:lstStyle/>
            <a:p>
              <a:pPr marL="0" algn="ctr">
                <a:defRPr/>
              </a:pPr>
              <a:r>
                <a:rPr lang="en-US" sz="3800" b="1" i="0" u="none" spc="99">
                  <a:solidFill>
                    <a:srgbClr val="4CAC4E"/>
                  </a:solidFill>
                  <a:latin typeface="Arial"/>
                  <a:ea typeface="Arial"/>
                  <a:cs typeface="Arial"/>
                </a:rPr>
                <a:t>04</a:t>
              </a:r>
              <a:endParaRPr sz="1100">
                <a:solidFill>
                  <a:srgbClr val="4CAC4E"/>
                </a:solidFill>
                <a:latin typeface="Arial"/>
                <a:cs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9874407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485736" y="5412163"/>
            <a:ext cx="9212078" cy="7219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671706351" name="Titel 5"/>
          <p:cNvSpPr>
            <a:spLocks noGrp="1"/>
          </p:cNvSpPr>
          <p:nvPr>
            <p:ph type="title" hasCustomPrompt="1"/>
          </p:nvPr>
        </p:nvSpPr>
        <p:spPr bwMode="auto">
          <a:xfrm flipH="0" flipV="0">
            <a:off x="475589" y="825498"/>
            <a:ext cx="9222225" cy="2490781"/>
          </a:xfrm>
        </p:spPr>
        <p:txBody>
          <a:bodyPr/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Part 01</a:t>
            </a:r>
            <a:br>
              <a:rPr/>
            </a:br>
            <a:br>
              <a:rPr/>
            </a:br>
            <a:r>
              <a:rPr lang="en-US" sz="4500" b="0" i="0" u="none" strike="noStrike" cap="none" spc="0"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Introduction and Research Context</a:t>
            </a:r>
            <a:endParaRPr/>
          </a:p>
        </p:txBody>
      </p:sp>
      <p:sp>
        <p:nvSpPr>
          <p:cNvPr id="183685109" name="Bildplatzhalter 9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0151559" y="2514416"/>
            <a:ext cx="1468799" cy="1085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4834483" name="Bildplatzhalter 9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10151744" y="4039230"/>
            <a:ext cx="1468799" cy="1085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889136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Problem Statement and Relevance</a:t>
            </a:r>
            <a:endParaRPr/>
          </a:p>
        </p:txBody>
      </p:sp>
      <p:sp>
        <p:nvSpPr>
          <p:cNvPr id="1015944420" name="Textplatzhalter 3"/>
          <p:cNvSpPr>
            <a:spLocks noGrp="1"/>
          </p:cNvSpPr>
          <p:nvPr>
            <p:ph type="body" sz="quarter" idx="25"/>
          </p:nvPr>
        </p:nvSpPr>
        <p:spPr bwMode="auto"/>
        <p:txBody>
          <a:bodyPr/>
          <a:lstStyle/>
          <a:p>
            <a:pPr>
              <a:defRPr/>
            </a:pPr>
            <a:endParaRPr lang="af-ZA"/>
          </a:p>
        </p:txBody>
      </p:sp>
      <p:sp>
        <p:nvSpPr>
          <p:cNvPr id="613722786" name="TextBox 2"/>
          <p:cNvSpPr txBox="1"/>
          <p:nvPr/>
        </p:nvSpPr>
        <p:spPr bwMode="auto">
          <a:xfrm rot="0" flipH="0" flipV="0">
            <a:off x="2148694" y="1428203"/>
            <a:ext cx="9000000" cy="1132186"/>
          </a:xfrm>
          <a:prstGeom prst="rect">
            <a:avLst/>
          </a:prstGeom>
          <a:solidFill>
            <a:srgbClr val="F7EFDF"/>
          </a:solidFill>
          <a:ln>
            <a:solidFill>
              <a:schemeClr val="accent1"/>
            </a:solidFill>
          </a:ln>
        </p:spPr>
        <p:txBody>
          <a:bodyPr vert="horz" lIns="50799" tIns="50799" rIns="50799" bIns="50799" rtlCol="0" anchor="ctr">
            <a:normAutofit/>
          </a:bodyPr>
          <a:lstStyle/>
          <a:p>
            <a:pPr marL="0" indent="0" algn="ctr">
              <a:lnSpc>
                <a:spcPct val="110000"/>
              </a:lnSpc>
              <a:defRPr/>
            </a:pPr>
            <a:r>
              <a:rPr lang="en-US" sz="2000" b="1" i="0" u="none" strike="noStrike" cap="none" spc="0">
                <a:solidFill>
                  <a:srgbClr val="4CAC4E"/>
                </a:solidFill>
                <a:latin typeface="Arial"/>
                <a:ea typeface="Arial"/>
                <a:cs typeface="Arial"/>
              </a:rPr>
              <a:t>AI's transformative potential and hidden costs</a:t>
            </a:r>
            <a:endParaRPr sz="2000">
              <a:solidFill>
                <a:srgbClr val="4CAC4E"/>
              </a:solidFill>
              <a:latin typeface="Arial"/>
              <a:cs typeface="Arial"/>
            </a:endParaRPr>
          </a:p>
        </p:txBody>
      </p:sp>
      <p:grpSp>
        <p:nvGrpSpPr>
          <p:cNvPr id="386566505" name="Group 4"/>
          <p:cNvGrpSpPr/>
          <p:nvPr/>
        </p:nvGrpSpPr>
        <p:grpSpPr bwMode="auto">
          <a:xfrm>
            <a:off x="928369" y="2929224"/>
            <a:ext cx="1106169" cy="1106169"/>
            <a:chOff x="891" y="7110"/>
            <a:chExt cx="1741" cy="1741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36437254" name="Freeform 5"/>
            <p:cNvSpPr/>
            <p:nvPr/>
          </p:nvSpPr>
          <p:spPr bwMode="auto">
            <a:xfrm>
              <a:off x="891" y="7110"/>
              <a:ext cx="1741" cy="174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1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CAC4E"/>
            </a:solidFill>
            <a:ln>
              <a:noFill/>
            </a:ln>
          </p:spPr>
        </p:sp>
        <p:sp>
          <p:nvSpPr>
            <p:cNvPr id="538300287" name="TextBox 6"/>
            <p:cNvSpPr txBox="1"/>
            <p:nvPr/>
          </p:nvSpPr>
          <p:spPr bwMode="auto">
            <a:xfrm>
              <a:off x="1082" y="7407"/>
              <a:ext cx="1360" cy="1147"/>
            </a:xfrm>
            <a:prstGeom prst="rect">
              <a:avLst/>
            </a:prstGeom>
            <a:solidFill>
              <a:srgbClr val="4CAC4E"/>
            </a:solidFill>
            <a:ln>
              <a:noFill/>
            </a:ln>
          </p:spPr>
          <p:txBody>
            <a:bodyPr vert="horz" lIns="0" tIns="0" rIns="0" bIns="0" rtlCol="0" anchor="ctr" anchorCtr="1">
              <a:norm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3200" b="0" i="0" u="none">
                  <a:solidFill>
                    <a:srgbClr val="FFFFFF"/>
                  </a:solidFill>
                  <a:latin typeface="思源黑体 Normal"/>
                  <a:ea typeface="思源黑体 Normal"/>
                </a:rPr>
                <a:t>02</a:t>
              </a:r>
              <a:endParaRPr lang="en-US" sz="1100"/>
            </a:p>
          </p:txBody>
        </p:sp>
      </p:grpSp>
      <p:grpSp>
        <p:nvGrpSpPr>
          <p:cNvPr id="906448045" name="Group 10"/>
          <p:cNvGrpSpPr/>
          <p:nvPr/>
        </p:nvGrpSpPr>
        <p:grpSpPr bwMode="auto">
          <a:xfrm>
            <a:off x="928369" y="1461024"/>
            <a:ext cx="1106169" cy="1106169"/>
            <a:chOff x="1236" y="3051"/>
            <a:chExt cx="1741" cy="1741"/>
          </a:xfrm>
        </p:grpSpPr>
        <p:sp>
          <p:nvSpPr>
            <p:cNvPr id="274837775" name="Freeform 11"/>
            <p:cNvSpPr/>
            <p:nvPr/>
          </p:nvSpPr>
          <p:spPr bwMode="auto">
            <a:xfrm>
              <a:off x="1236" y="3051"/>
              <a:ext cx="1741" cy="174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1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CAC4E"/>
            </a:solidFill>
            <a:ln>
              <a:noFill/>
            </a:ln>
          </p:spPr>
        </p:sp>
        <p:sp>
          <p:nvSpPr>
            <p:cNvPr id="970884376" name="TextBox 12"/>
            <p:cNvSpPr txBox="1"/>
            <p:nvPr/>
          </p:nvSpPr>
          <p:spPr bwMode="auto">
            <a:xfrm>
              <a:off x="1427" y="3348"/>
              <a:ext cx="1360" cy="1147"/>
            </a:xfrm>
            <a:prstGeom prst="rect">
              <a:avLst/>
            </a:prstGeom>
            <a:solidFill>
              <a:srgbClr val="4CAC4E"/>
            </a:solidFill>
            <a:ln>
              <a:noFill/>
            </a:ln>
          </p:spPr>
          <p:txBody>
            <a:bodyPr vert="horz" lIns="0" tIns="0" rIns="0" bIns="0" rtlCol="0" anchor="ctr" anchorCtr="1">
              <a:norm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3200" b="0" i="0" u="none">
                  <a:solidFill>
                    <a:srgbClr val="FFFFFF"/>
                  </a:solidFill>
                  <a:latin typeface="思源黑体 Normal"/>
                  <a:ea typeface="思源黑体 Normal"/>
                </a:rPr>
                <a:t>01</a:t>
              </a:r>
              <a:endParaRPr lang="en-US" sz="1100"/>
            </a:p>
          </p:txBody>
        </p:sp>
      </p:grpSp>
      <p:sp>
        <p:nvSpPr>
          <p:cNvPr id="1482391849" name="TextBox 2"/>
          <p:cNvSpPr txBox="1"/>
          <p:nvPr/>
        </p:nvSpPr>
        <p:spPr bwMode="auto">
          <a:xfrm rot="0" flipH="0" flipV="0">
            <a:off x="2148694" y="2952749"/>
            <a:ext cx="9000000" cy="1132185"/>
          </a:xfrm>
          <a:prstGeom prst="rect">
            <a:avLst/>
          </a:prstGeom>
          <a:solidFill>
            <a:srgbClr val="F7EFDF"/>
          </a:solidFill>
          <a:ln>
            <a:solidFill>
              <a:schemeClr val="accent1"/>
            </a:solidFill>
          </a:ln>
        </p:spPr>
        <p:txBody>
          <a:bodyPr vert="horz" lIns="50799" tIns="50799" rIns="50799" bIns="50799" rtlCol="0" anchor="ctr">
            <a:normAutofit/>
          </a:bodyPr>
          <a:lstStyle/>
          <a:p>
            <a:pPr marL="0" indent="0" algn="ctr">
              <a:lnSpc>
                <a:spcPct val="110000"/>
              </a:lnSpc>
              <a:defRPr/>
            </a:pPr>
            <a:r>
              <a:rPr lang="en-US" sz="2000" b="1" i="0" u="none" strike="noStrike" cap="none" spc="0">
                <a:solidFill>
                  <a:srgbClr val="4CAC4E"/>
                </a:solidFill>
                <a:latin typeface="Arial"/>
                <a:ea typeface="Arial"/>
                <a:cs typeface="Arial"/>
              </a:rPr>
              <a:t>Planetary boundaries and structural tensions</a:t>
            </a:r>
            <a:endParaRPr sz="2000">
              <a:solidFill>
                <a:srgbClr val="4CAC4E"/>
              </a:solidFill>
              <a:latin typeface="Arial"/>
              <a:cs typeface="Arial"/>
            </a:endParaRPr>
          </a:p>
        </p:txBody>
      </p:sp>
      <p:grpSp>
        <p:nvGrpSpPr>
          <p:cNvPr id="2088075467" name="Group 4"/>
          <p:cNvGrpSpPr/>
          <p:nvPr/>
        </p:nvGrpSpPr>
        <p:grpSpPr bwMode="auto">
          <a:xfrm>
            <a:off x="928369" y="4488119"/>
            <a:ext cx="1106169" cy="1106169"/>
            <a:chOff x="891" y="7110"/>
            <a:chExt cx="1741" cy="1741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489429124" name="Freeform 5"/>
            <p:cNvSpPr/>
            <p:nvPr/>
          </p:nvSpPr>
          <p:spPr bwMode="auto">
            <a:xfrm>
              <a:off x="891" y="7110"/>
              <a:ext cx="1741" cy="174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1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CAC4E"/>
            </a:solidFill>
            <a:ln>
              <a:noFill/>
            </a:ln>
          </p:spPr>
        </p:sp>
        <p:sp>
          <p:nvSpPr>
            <p:cNvPr id="1968352754" name="TextBox 6"/>
            <p:cNvSpPr txBox="1"/>
            <p:nvPr/>
          </p:nvSpPr>
          <p:spPr bwMode="auto">
            <a:xfrm>
              <a:off x="1082" y="7407"/>
              <a:ext cx="1360" cy="1147"/>
            </a:xfrm>
            <a:prstGeom prst="rect">
              <a:avLst/>
            </a:prstGeom>
            <a:solidFill>
              <a:srgbClr val="4CAC4E"/>
            </a:solidFill>
            <a:ln>
              <a:noFill/>
            </a:ln>
          </p:spPr>
          <p:txBody>
            <a:bodyPr vert="horz" lIns="0" tIns="0" rIns="0" bIns="0" rtlCol="0" anchor="ctr" anchorCtr="1">
              <a:norm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3200" b="0" i="0" u="none">
                  <a:solidFill>
                    <a:srgbClr val="FFFFFF"/>
                  </a:solidFill>
                  <a:latin typeface="思源黑体 Normal"/>
                  <a:ea typeface="思源黑体 Normal"/>
                </a:rPr>
                <a:t>03</a:t>
              </a:r>
              <a:endParaRPr lang="en-US" sz="1100"/>
            </a:p>
          </p:txBody>
        </p:sp>
      </p:grpSp>
      <p:sp>
        <p:nvSpPr>
          <p:cNvPr id="1573961977" name="TextBox 2"/>
          <p:cNvSpPr txBox="1"/>
          <p:nvPr/>
        </p:nvSpPr>
        <p:spPr bwMode="auto">
          <a:xfrm rot="0" flipH="0" flipV="0">
            <a:off x="2148694" y="4511644"/>
            <a:ext cx="9000000" cy="1132185"/>
          </a:xfrm>
          <a:prstGeom prst="rect">
            <a:avLst/>
          </a:prstGeom>
          <a:solidFill>
            <a:srgbClr val="F7EFDF"/>
          </a:solidFill>
          <a:ln>
            <a:solidFill>
              <a:schemeClr val="accent1"/>
            </a:solidFill>
          </a:ln>
        </p:spPr>
        <p:txBody>
          <a:bodyPr vert="horz" lIns="50799" tIns="50799" rIns="50799" bIns="50799" rtlCol="0" anchor="ctr">
            <a:normAutofit/>
          </a:bodyPr>
          <a:lstStyle/>
          <a:p>
            <a:pPr marL="0" indent="0" algn="ctr">
              <a:lnSpc>
                <a:spcPct val="110000"/>
              </a:lnSpc>
              <a:defRPr/>
            </a:pPr>
            <a:r>
              <a:rPr lang="en-US" sz="2000" b="1" i="0" u="none" strike="noStrike" cap="none" spc="0">
                <a:solidFill>
                  <a:srgbClr val="4CAC4E"/>
                </a:solidFill>
                <a:latin typeface="Arial"/>
                <a:ea typeface="Arial"/>
                <a:cs typeface="Arial"/>
              </a:rPr>
              <a:t>The EU positions itself as multi-stakholder and inclusive</a:t>
            </a:r>
            <a:endParaRPr sz="2000">
              <a:solidFill>
                <a:srgbClr val="4CAC4E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1099910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/>
              <a:t>Research Question</a:t>
            </a:r>
            <a:endParaRPr/>
          </a:p>
        </p:txBody>
      </p:sp>
      <p:sp>
        <p:nvSpPr>
          <p:cNvPr id="1117981351" name="Inhaltsplatzhalt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 algn="ctr">
              <a:lnSpc>
                <a:spcPct val="150000"/>
              </a:lnSpc>
              <a:buSzPct val="120000"/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How is influence over sustainability-related AI policy distributed among organizational actors in the EU, and whose visions of ecological justice, if any, occupy central positions in the governance network?</a:t>
            </a:r>
            <a:endParaRPr sz="8000"/>
          </a:p>
        </p:txBody>
      </p:sp>
      <p:sp>
        <p:nvSpPr>
          <p:cNvPr id="1707672154" name="Textplatzhalter 3"/>
          <p:cNvSpPr>
            <a:spLocks noGrp="1"/>
          </p:cNvSpPr>
          <p:nvPr>
            <p:ph type="body" sz="quarter" idx="25"/>
          </p:nvPr>
        </p:nvSpPr>
        <p:spPr bwMode="auto"/>
        <p:txBody>
          <a:bodyPr/>
          <a:lstStyle/>
          <a:p>
            <a:pPr>
              <a:defRPr/>
            </a:pPr>
            <a:endParaRPr lang="af-ZA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007852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485736" y="5412163"/>
            <a:ext cx="9212078" cy="7219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014848383" name="Titel 5"/>
          <p:cNvSpPr>
            <a:spLocks noGrp="1"/>
          </p:cNvSpPr>
          <p:nvPr>
            <p:ph type="title" hasCustomPrompt="1"/>
          </p:nvPr>
        </p:nvSpPr>
        <p:spPr bwMode="auto">
          <a:xfrm flipH="0" flipV="0">
            <a:off x="475588" y="274006"/>
            <a:ext cx="9222224" cy="3042272"/>
          </a:xfrm>
        </p:spPr>
        <p:txBody>
          <a:bodyPr/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Part 01</a:t>
            </a:r>
            <a:br>
              <a:rPr/>
            </a:br>
            <a:br>
              <a:rPr/>
            </a:br>
            <a:r>
              <a:rPr lang="en-US" sz="4500" b="0" i="0" u="none" strike="noStrike" cap="none" spc="0"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Theoretical Frameworks and Analytical Approaches</a:t>
            </a:r>
            <a:endParaRPr/>
          </a:p>
        </p:txBody>
      </p:sp>
      <p:sp>
        <p:nvSpPr>
          <p:cNvPr id="108683899" name="Bildplatzhalter 9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0151559" y="2514416"/>
            <a:ext cx="1468800" cy="1085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64567069" name="Bildplatzhalter 9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10151745" y="4039230"/>
            <a:ext cx="1468800" cy="1085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24322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Political Ecology: Power, Discourse, and Extractivism</a:t>
            </a:r>
            <a:endParaRPr/>
          </a:p>
        </p:txBody>
      </p:sp>
      <p:sp>
        <p:nvSpPr>
          <p:cNvPr id="1435282345" name="Inhaltsplatzhalt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Governance shaped by power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Who defines “sustainable AI”?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How does discourse shape sustainability perceptions/actions?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Often: certain narratives privileged – others marginalized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AI’s ecological cost often absent in EU discourse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onnects power structures to environmental outcomes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488505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Strategic Action Fields (SAF) Theory: Framework and Applications</a:t>
            </a:r>
            <a:endParaRPr/>
          </a:p>
        </p:txBody>
      </p:sp>
      <p:sp>
        <p:nvSpPr>
          <p:cNvPr id="2049287996" name="Content Placeholder 2"/>
          <p:cNvSpPr>
            <a:spLocks noGrp="1"/>
          </p:cNvSpPr>
          <p:nvPr>
            <p:ph idx="1"/>
          </p:nvPr>
        </p:nvSpPr>
        <p:spPr bwMode="auto">
          <a:xfrm>
            <a:off x="471540" y="1621584"/>
            <a:ext cx="11139783" cy="451674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Governance as a Contested Space</a:t>
            </a:r>
            <a:endParaRPr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Incumbents and challengers compete for influence</a:t>
            </a:r>
            <a:endParaRPr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Vital for </a:t>
            </a:r>
            <a:r>
              <a:rPr lang="en-US" sz="2800" b="0" i="0" u="none" strike="noStrike" cap="none" spc="0">
                <a:solidFill>
                  <a:srgbClr val="262626"/>
                </a:solidFill>
                <a:latin typeface="Arial"/>
                <a:ea typeface="Arial"/>
                <a:cs typeface="Arial"/>
              </a:rPr>
              <a:t>analyzing power dynamics within EU AI governance</a:t>
            </a:r>
            <a:endParaRPr sz="2800" b="0" i="0" u="none" strike="noStrike" cap="none" spc="0">
              <a:solidFill>
                <a:srgbClr val="262626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rgbClr val="262626"/>
                </a:solidFill>
                <a:latin typeface="Arial"/>
                <a:ea typeface="Arial"/>
                <a:cs typeface="Arial"/>
              </a:rPr>
              <a:t>Helps interpret network centrality</a:t>
            </a:r>
            <a:endParaRPr sz="2800" b="0" i="0" u="none" strike="noStrike" cap="none" spc="0">
              <a:solidFill>
                <a:srgbClr val="262626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Connects structure to outcomes</a:t>
            </a:r>
            <a:endParaRPr sz="2800" b="0" i="0" u="none" strike="noStrike" cap="none" spc="0">
              <a:solidFill>
                <a:srgbClr val="262626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rgbClr val="262626"/>
                </a:solidFill>
                <a:latin typeface="Arial"/>
                <a:ea typeface="Arial"/>
                <a:cs typeface="Arial"/>
              </a:rPr>
              <a:t>How do structural advantages affect policy outcomes?</a:t>
            </a:r>
            <a:endParaRPr>
              <a:latin typeface="Arial"/>
              <a:cs typeface="Arial"/>
            </a:endParaRPr>
          </a:p>
        </p:txBody>
      </p:sp>
      <p:sp>
        <p:nvSpPr>
          <p:cNvPr id="987828826" name="Textplatzhalter 5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71540" y="5858820"/>
            <a:ext cx="11139783" cy="27812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999"/>
              </a:lnSpc>
              <a:buNone/>
              <a:defRPr sz="750"/>
            </a:lvl2pPr>
            <a:lvl3pPr marL="396000" indent="0">
              <a:lnSpc>
                <a:spcPts val="999"/>
              </a:lnSpc>
              <a:buNone/>
              <a:defRPr sz="750"/>
            </a:lvl3pPr>
            <a:lvl4pPr marL="594000" indent="0">
              <a:lnSpc>
                <a:spcPts val="999"/>
              </a:lnSpc>
              <a:buNone/>
              <a:defRPr sz="750"/>
            </a:lvl4pPr>
            <a:lvl5pPr marL="792000" indent="0">
              <a:lnSpc>
                <a:spcPts val="999"/>
              </a:lnSpc>
              <a:buNone/>
              <a:defRPr sz="750"/>
            </a:lvl5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816482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Networks and Discourse</a:t>
            </a:r>
            <a:endParaRPr/>
          </a:p>
        </p:txBody>
      </p:sp>
      <p:sp>
        <p:nvSpPr>
          <p:cNvPr id="879200103" name="Content Placeholder 2"/>
          <p:cNvSpPr>
            <a:spLocks noGrp="1"/>
          </p:cNvSpPr>
          <p:nvPr>
            <p:ph idx="1"/>
          </p:nvPr>
        </p:nvSpPr>
        <p:spPr bwMode="auto">
          <a:xfrm>
            <a:off x="471540" y="1621584"/>
            <a:ext cx="11139783" cy="4516749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/>
              <a:t>Social Network Analysis (SNA): tool to map relationships among actors</a:t>
            </a:r>
            <a:endParaRPr/>
          </a:p>
          <a:p>
            <a:pPr>
              <a:defRPr/>
            </a:pPr>
            <a:r>
              <a:rPr/>
              <a:t>Reveals patterns of influence —&gt;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centrality represents incumbency</a:t>
            </a:r>
            <a:endParaRPr/>
          </a:p>
          <a:p>
            <a:pPr>
              <a:defRPr/>
            </a:pPr>
            <a:r>
              <a:rPr/>
              <a:t>Content Analysis: examines how sustainability discourses are articulated</a:t>
            </a:r>
            <a:endParaRPr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Links structural position and discursive framing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SNA shows distribution/structure of influence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SAF explains how actors use their position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84909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Case Selection and Empirical Corpus</a:t>
            </a:r>
            <a:endParaRPr/>
          </a:p>
        </p:txBody>
      </p:sp>
      <p:sp>
        <p:nvSpPr>
          <p:cNvPr id="1195947966" name="Inhaltsplatzhalt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EU AI Act Process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as Strategic Action Field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How are sustainability concerns negotiated?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Includes: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Official AI Act-related outputs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Advisory and expert bodies around the AI Act</a:t>
            </a:r>
            <a:endParaRPr lang="en-US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Consultations</a:t>
            </a:r>
            <a:endParaRPr lang="en-US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Studies produced in parliamentary research </a:t>
            </a:r>
            <a:endParaRPr lang="en-US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Joint position papers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375099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485736" y="5412163"/>
            <a:ext cx="9212078" cy="7219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691325625" name="Titel 5"/>
          <p:cNvSpPr>
            <a:spLocks noGrp="1"/>
          </p:cNvSpPr>
          <p:nvPr>
            <p:ph type="title" hasCustomPrompt="1"/>
          </p:nvPr>
        </p:nvSpPr>
        <p:spPr bwMode="auto">
          <a:xfrm flipH="0" flipV="0">
            <a:off x="475588" y="404486"/>
            <a:ext cx="9222224" cy="2911793"/>
          </a:xfrm>
        </p:spPr>
        <p:txBody>
          <a:bodyPr/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Part 02</a:t>
            </a:r>
            <a:br>
              <a:rPr/>
            </a:br>
            <a:br>
              <a:rPr/>
            </a:br>
            <a:r>
              <a:rPr lang="en-US" sz="4500" b="0" i="0" u="none" strike="noStrike" cap="none" spc="0"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Empirical Analysis of EU AI Governance</a:t>
            </a:r>
            <a:endParaRPr/>
          </a:p>
        </p:txBody>
      </p:sp>
      <p:sp>
        <p:nvSpPr>
          <p:cNvPr id="211506353" name="Bildplatzhalter 9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0151559" y="2514416"/>
            <a:ext cx="1468800" cy="1085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8866633" name="Bildplatzhalter 9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10151745" y="4039230"/>
            <a:ext cx="1468800" cy="1085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375363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Key finding 1: Power is concentrated</a:t>
            </a:r>
            <a:endParaRPr/>
          </a:p>
        </p:txBody>
      </p:sp>
      <p:sp>
        <p:nvSpPr>
          <p:cNvPr id="1564364481" name="Inhaltsplatzhalt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SzPct val="120000"/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network is broad, but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Participation is highly uneven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Core consists of well-connected industry actors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Brokerage positions are hardly present and still unevenly distributed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Industry actors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shape discourse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785537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Key finding 1: Power is concentrated</a:t>
            </a:r>
            <a:endParaRPr/>
          </a:p>
        </p:txBody>
      </p:sp>
      <p:pic>
        <p:nvPicPr>
          <p:cNvPr id="47987467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813730" y="1192774"/>
            <a:ext cx="6470986" cy="5021679"/>
          </a:xfrm>
          <a:prstGeom prst="rect">
            <a:avLst/>
          </a:prstGeom>
        </p:spPr>
      </p:pic>
      <p:sp>
        <p:nvSpPr>
          <p:cNvPr id="10109362" name=""/>
          <p:cNvSpPr/>
          <p:nvPr/>
        </p:nvSpPr>
        <p:spPr bwMode="auto">
          <a:xfrm rot="0" flipH="0" flipV="0">
            <a:off x="4436601" y="4345781"/>
            <a:ext cx="1354335" cy="1398984"/>
          </a:xfrm>
          <a:prstGeom prst="ellipse">
            <a:avLst/>
          </a:prstGeom>
          <a:noFill/>
          <a:ln w="1270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80379180" name=""/>
          <p:cNvSpPr/>
          <p:nvPr/>
        </p:nvSpPr>
        <p:spPr bwMode="auto">
          <a:xfrm rot="0" flipH="0" flipV="0">
            <a:off x="7033750" y="3284709"/>
            <a:ext cx="649748" cy="581575"/>
          </a:xfrm>
          <a:prstGeom prst="ellipse">
            <a:avLst/>
          </a:prstGeom>
          <a:noFill/>
          <a:ln w="1270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4231387" name=""/>
          <p:cNvSpPr/>
          <p:nvPr/>
        </p:nvSpPr>
        <p:spPr bwMode="auto">
          <a:xfrm rot="0" flipH="0" flipV="0">
            <a:off x="7990416" y="3119608"/>
            <a:ext cx="427564" cy="457557"/>
          </a:xfrm>
          <a:prstGeom prst="ellipse">
            <a:avLst/>
          </a:prstGeom>
          <a:noFill/>
          <a:ln w="1270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2591314" name=""/>
          <p:cNvSpPr/>
          <p:nvPr/>
        </p:nvSpPr>
        <p:spPr bwMode="auto">
          <a:xfrm rot="0" flipH="0" flipV="0">
            <a:off x="6100232" y="2076092"/>
            <a:ext cx="275264" cy="294574"/>
          </a:xfrm>
          <a:prstGeom prst="ellipse">
            <a:avLst/>
          </a:prstGeom>
          <a:noFill/>
          <a:ln w="1270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4105714" name=""/>
          <p:cNvSpPr/>
          <p:nvPr/>
        </p:nvSpPr>
        <p:spPr bwMode="auto">
          <a:xfrm rot="0" flipH="0" flipV="0">
            <a:off x="5882215" y="2757658"/>
            <a:ext cx="275263" cy="294573"/>
          </a:xfrm>
          <a:prstGeom prst="ellipse">
            <a:avLst/>
          </a:prstGeom>
          <a:noFill/>
          <a:ln w="1270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34741876" name=""/>
          <p:cNvSpPr/>
          <p:nvPr/>
        </p:nvSpPr>
        <p:spPr bwMode="auto">
          <a:xfrm rot="0" flipH="0" flipV="0">
            <a:off x="5928781" y="3121723"/>
            <a:ext cx="275263" cy="294573"/>
          </a:xfrm>
          <a:prstGeom prst="ellipse">
            <a:avLst/>
          </a:prstGeom>
          <a:noFill/>
          <a:ln w="1270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3915670" name=""/>
          <p:cNvSpPr/>
          <p:nvPr/>
        </p:nvSpPr>
        <p:spPr bwMode="auto">
          <a:xfrm rot="0" flipH="0" flipV="0">
            <a:off x="5710764" y="2956623"/>
            <a:ext cx="275263" cy="294573"/>
          </a:xfrm>
          <a:prstGeom prst="ellipse">
            <a:avLst/>
          </a:prstGeom>
          <a:noFill/>
          <a:ln w="1270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35606781" name=""/>
          <p:cNvCxnSpPr>
            <a:stCxn id="1281955215" idx="3"/>
            <a:endCxn id="10109362" idx="2"/>
          </p:cNvCxnSpPr>
          <p:nvPr/>
        </p:nvCxnSpPr>
        <p:spPr bwMode="auto">
          <a:xfrm rot="0" flipH="0" flipV="1">
            <a:off x="3682999" y="5045273"/>
            <a:ext cx="753601" cy="528339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1955215" name=""/>
          <p:cNvSpPr/>
          <p:nvPr/>
        </p:nvSpPr>
        <p:spPr bwMode="auto">
          <a:xfrm rot="0" flipH="0" flipV="0">
            <a:off x="1619249" y="5216425"/>
            <a:ext cx="2063749" cy="714375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>
                <a:solidFill>
                  <a:schemeClr val="tx1"/>
                </a:solidFill>
              </a:rPr>
              <a:t>Core industry actors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21187120" name=""/>
          <p:cNvSpPr/>
          <p:nvPr/>
        </p:nvSpPr>
        <p:spPr bwMode="auto">
          <a:xfrm rot="0" flipH="0" flipV="0">
            <a:off x="6552177" y="2190570"/>
            <a:ext cx="2623571" cy="714375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>
                <a:solidFill>
                  <a:schemeClr val="tx1"/>
                </a:solidFill>
              </a:rPr>
              <a:t>Peripheral non-industry actors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889844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Key finding 1: Power is concentrated</a:t>
            </a:r>
            <a:endParaRPr/>
          </a:p>
        </p:txBody>
      </p:sp>
      <p:pic>
        <p:nvPicPr>
          <p:cNvPr id="169095670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028086" y="1564844"/>
            <a:ext cx="8042274" cy="4730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397143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Key finding </a:t>
            </a: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2: Sustainability is framed narrowly</a:t>
            </a:r>
            <a:endParaRPr/>
          </a:p>
        </p:txBody>
      </p:sp>
      <p:sp>
        <p:nvSpPr>
          <p:cNvPr id="890033131" name="Inhaltsplatzhalt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SzPct val="120000"/>
              <a:buFont typeface="Arial"/>
              <a:buNone/>
              <a:defRPr/>
            </a:pPr>
            <a:endParaRPr lang="en-US" sz="2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Sustainability is predominantly framed in economic and social terms: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Competitiveness, </a:t>
            </a: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efficiency, </a:t>
            </a: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innovation, </a:t>
            </a: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governance</a:t>
            </a: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trust, ...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Environmental considerations often absent or conditional: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Ecological limits, </a:t>
            </a: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material footprint,</a:t>
            </a: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energy demand, </a:t>
            </a: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water scarcity, ...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0"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Reflects industry priorities, reinforced by central positions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0"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Sustainability discourse is selective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953729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Key finding </a:t>
            </a: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2: Sustainability is framed narrowly</a:t>
            </a:r>
            <a:endParaRPr/>
          </a:p>
        </p:txBody>
      </p:sp>
      <p:pic>
        <p:nvPicPr>
          <p:cNvPr id="75245097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998809" y="1564844"/>
            <a:ext cx="8100828" cy="47241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610864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Key finding </a:t>
            </a: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3: </a:t>
            </a: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Coalition Structures and Sustainability Challengers</a:t>
            </a:r>
            <a:endParaRPr/>
          </a:p>
        </p:txBody>
      </p:sp>
      <p:sp>
        <p:nvSpPr>
          <p:cNvPr id="1023061635" name="Inhaltsplatzhalt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lvl="0">
              <a:defRPr/>
            </a:pPr>
            <a:endParaRPr lang="en-US" sz="25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0"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Sustainability-oriented actors often unable to form cohesive coalitions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0"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Large coalitions primarily composed of organizations with no explicit sustainability focus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0"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Sustainability challengers struggle to find access to coalition structures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0"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Results in weak collective voice, reduced influence over discourse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824887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Key finding </a:t>
            </a: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3: </a:t>
            </a: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Coalition Structures and Sustainability Challengers</a:t>
            </a:r>
            <a:endParaRPr/>
          </a:p>
        </p:txBody>
      </p:sp>
      <p:pic>
        <p:nvPicPr>
          <p:cNvPr id="77523533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179710" y="1628344"/>
            <a:ext cx="7739025" cy="4262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30208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485736" y="5412163"/>
            <a:ext cx="9212078" cy="7219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584263733" name="Titel 5"/>
          <p:cNvSpPr>
            <a:spLocks noGrp="1"/>
          </p:cNvSpPr>
          <p:nvPr>
            <p:ph type="title" hasCustomPrompt="1"/>
          </p:nvPr>
        </p:nvSpPr>
        <p:spPr bwMode="auto">
          <a:xfrm>
            <a:off x="475589" y="1307109"/>
            <a:ext cx="9222225" cy="2009171"/>
          </a:xfrm>
        </p:spPr>
        <p:txBody>
          <a:bodyPr/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Part 03</a:t>
            </a:r>
            <a:br>
              <a:rPr/>
            </a:br>
            <a:br>
              <a:rPr/>
            </a:br>
            <a:r>
              <a:rPr lang="en-US" sz="4500" b="0" i="0" u="none" strike="noStrike" cap="none" spc="0"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Discussion and Implications</a:t>
            </a:r>
            <a:endParaRPr/>
          </a:p>
        </p:txBody>
      </p:sp>
      <p:sp>
        <p:nvSpPr>
          <p:cNvPr id="1790453144" name="Bildplatzhalter 9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0151559" y="2514416"/>
            <a:ext cx="1468800" cy="1085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56129669" name="Bildplatzhalter 9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10151745" y="4039230"/>
            <a:ext cx="1468800" cy="1085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46503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Reconnecting Empirical Evidence and Core Motivations</a:t>
            </a:r>
            <a:endParaRPr/>
          </a:p>
        </p:txBody>
      </p:sp>
      <p:sp>
        <p:nvSpPr>
          <p:cNvPr id="970395010" name="Inhaltsplatzhalt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>
              <a:latin typeface="Arial"/>
              <a:cs typeface="Arial"/>
            </a:endParaRPr>
          </a:p>
          <a:p>
            <a:pPr>
              <a:defRPr/>
            </a:pPr>
            <a:r>
              <a:rPr lang="en-US" sz="2700" b="0" i="0" u="none" strike="noStrike" cap="none" spc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Who defines sustainable AI? What are the consequences?</a:t>
            </a:r>
            <a:endParaRPr>
              <a:latin typeface="Arial"/>
              <a:cs typeface="Arial"/>
            </a:endParaRPr>
          </a:p>
          <a:p>
            <a:pPr lvl="0">
              <a:defRPr/>
            </a:pPr>
            <a:r>
              <a:rPr lang="en-US" sz="2800" b="0" i="0" u="none" strike="noStrike" cap="none" spc="0">
                <a:solidFill>
                  <a:srgbClr val="262626"/>
                </a:solidFill>
                <a:latin typeface="Arial"/>
                <a:ea typeface="Arial"/>
                <a:cs typeface="Arial"/>
              </a:rPr>
              <a:t>Need for broader inclusion, especially environmental perspectives</a:t>
            </a:r>
            <a:endParaRPr sz="2800" b="0" i="0" u="none" strike="noStrike" cap="none" spc="0">
              <a:solidFill>
                <a:srgbClr val="262626"/>
              </a:solidFill>
              <a:latin typeface="Arial"/>
              <a:cs typeface="Arial"/>
            </a:endParaRPr>
          </a:p>
          <a:p>
            <a:pPr lvl="0">
              <a:defRPr/>
            </a:pPr>
            <a:r>
              <a:rPr lang="en-US" sz="2800" b="0" i="0" u="none" strike="noStrike" cap="none" spc="0">
                <a:solidFill>
                  <a:srgbClr val="262626"/>
                </a:solidFill>
                <a:latin typeface="Arial"/>
                <a:ea typeface="Arial"/>
                <a:cs typeface="Arial"/>
              </a:rPr>
              <a:t>Power asymmetries favor industry actors</a:t>
            </a:r>
            <a:endParaRPr sz="2800" b="0" i="0" u="none" strike="noStrike" cap="none" spc="0">
              <a:solidFill>
                <a:srgbClr val="262626"/>
              </a:solidFill>
              <a:latin typeface="Arial"/>
              <a:cs typeface="Arial"/>
            </a:endParaRPr>
          </a:p>
          <a:p>
            <a:pPr lvl="0">
              <a:defRPr/>
            </a:pPr>
            <a:r>
              <a:rPr lang="en-US" sz="2800" b="0" i="0" u="none" strike="noStrike" cap="none" spc="0">
                <a:solidFill>
                  <a:srgbClr val="262626"/>
                </a:solidFill>
                <a:latin typeface="Arial"/>
                <a:ea typeface="Arial"/>
                <a:cs typeface="Arial"/>
              </a:rPr>
              <a:t>Raises questions about legitimacy of the governance process</a:t>
            </a:r>
            <a:endParaRPr sz="2800" b="0" i="0" u="none" strike="noStrike" cap="none" spc="0">
              <a:solidFill>
                <a:srgbClr val="262626"/>
              </a:solidFill>
              <a:latin typeface="Arial"/>
              <a:cs typeface="Arial"/>
            </a:endParaRPr>
          </a:p>
          <a:p>
            <a:pPr lvl="0">
              <a:defRPr/>
            </a:pPr>
            <a:r>
              <a:rPr lang="en-US" sz="2800" b="0" i="0" u="none" strike="noStrike" cap="none" spc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Structural bias</a:t>
            </a:r>
            <a:r>
              <a:rPr lang="en-US" sz="2800" b="0" i="0" u="none" strike="noStrike" cap="none" spc="0">
                <a:solidFill>
                  <a:srgbClr val="262626"/>
                </a:solidFill>
                <a:latin typeface="Arial"/>
                <a:ea typeface="Arial"/>
                <a:cs typeface="Arial"/>
              </a:rPr>
              <a:t>: those who profit most decide the rules</a:t>
            </a:r>
            <a:endParaRPr sz="2800" b="0" i="0" u="none" strike="noStrike" cap="none" spc="0">
              <a:solidFill>
                <a:srgbClr val="262626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5417573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Narrative Power and Externalization of Ecological Costs</a:t>
            </a:r>
            <a:endParaRPr/>
          </a:p>
        </p:txBody>
      </p:sp>
      <p:sp>
        <p:nvSpPr>
          <p:cNvPr id="504040671" name="Inhaltsplatzhalt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 lang="en-US" sz="2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Logic of “obligatory technology”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AI framed as necessary for, e.g., </a:t>
            </a: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competitiveness, </a:t>
            </a: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sovereignty, </a:t>
            </a: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innovation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Reduces space for questioning expansion itself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Governance assumes AI expansion, then optimizes within that frame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Result: 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Systematic externalization of ecological costs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Environmental impacts framed as downstream issues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921466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Rethinking the Twin Transition Narrative</a:t>
            </a:r>
            <a:endParaRPr/>
          </a:p>
        </p:txBody>
      </p:sp>
      <p:sp>
        <p:nvSpPr>
          <p:cNvPr id="1062576666" name="Inhaltsplatzhalt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EU's “twin transition” narrative requires re-evaluation</a:t>
            </a:r>
            <a:endParaRPr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“Sustainability” framed conditionally and in economic terms</a:t>
            </a:r>
            <a:endParaRPr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ln w="12700"/>
                <a:solidFill>
                  <a:schemeClr val="tx1"/>
                </a:solidFill>
                <a:latin typeface="Arial"/>
                <a:ea typeface="Arial"/>
                <a:cs typeface="Arial"/>
              </a:rPr>
              <a:t>Digital expansion legitimized, masks ecological trade-offs</a:t>
            </a:r>
            <a:endParaRPr sz="2800" b="0" i="0" u="none" strike="noStrike" cap="none" spc="0">
              <a:ln w="12700"/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ln w="12700"/>
                <a:solidFill>
                  <a:schemeClr val="tx1"/>
                </a:solidFill>
                <a:latin typeface="Arial"/>
                <a:ea typeface="Arial"/>
                <a:cs typeface="Arial"/>
              </a:rPr>
              <a:t>More as a rhetorical device than an actual framework?</a:t>
            </a:r>
            <a:endParaRPr sz="2800" b="0" i="0" u="none" strike="noStrike" cap="none" spc="0">
              <a:ln w="12700"/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ln w="12700"/>
                <a:solidFill>
                  <a:schemeClr val="tx1"/>
                </a:solidFill>
                <a:latin typeface="Arial"/>
                <a:ea typeface="Arial"/>
                <a:cs typeface="Arial"/>
              </a:rPr>
              <a:t>More balanced approach alongside economic growth is essential</a:t>
            </a:r>
            <a:endParaRPr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572549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Conclusion</a:t>
            </a:r>
            <a:endParaRPr/>
          </a:p>
        </p:txBody>
      </p:sp>
      <p:sp>
        <p:nvSpPr>
          <p:cNvPr id="861857441" name="Textplatzhalter 5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71540" y="5858820"/>
            <a:ext cx="11139783" cy="27812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999"/>
              </a:lnSpc>
              <a:buNone/>
              <a:defRPr sz="750"/>
            </a:lvl2pPr>
            <a:lvl3pPr marL="396000" indent="0">
              <a:lnSpc>
                <a:spcPts val="999"/>
              </a:lnSpc>
              <a:buNone/>
              <a:defRPr sz="750"/>
            </a:lvl3pPr>
            <a:lvl4pPr marL="594000" indent="0">
              <a:lnSpc>
                <a:spcPts val="999"/>
              </a:lnSpc>
              <a:buNone/>
              <a:defRPr sz="750"/>
            </a:lvl4pPr>
            <a:lvl5pPr marL="792000" indent="0">
              <a:lnSpc>
                <a:spcPts val="999"/>
              </a:lnSpc>
              <a:buNone/>
              <a:defRPr sz="750"/>
            </a:lvl5pPr>
          </a:lstStyle>
          <a:p>
            <a:pPr>
              <a:defRPr/>
            </a:pPr>
            <a:endParaRPr/>
          </a:p>
        </p:txBody>
      </p:sp>
      <p:sp>
        <p:nvSpPr>
          <p:cNvPr id="137163780" name="TextBox 2"/>
          <p:cNvSpPr txBox="1"/>
          <p:nvPr/>
        </p:nvSpPr>
        <p:spPr bwMode="auto">
          <a:xfrm rot="0" flipH="0" flipV="0">
            <a:off x="2148694" y="1428202"/>
            <a:ext cx="9000000" cy="1132185"/>
          </a:xfrm>
          <a:prstGeom prst="rect">
            <a:avLst/>
          </a:prstGeom>
          <a:solidFill>
            <a:srgbClr val="F7EFDF"/>
          </a:solidFill>
          <a:ln>
            <a:solidFill>
              <a:schemeClr val="accent1"/>
            </a:solidFill>
          </a:ln>
        </p:spPr>
        <p:txBody>
          <a:bodyPr vert="horz" lIns="50799" tIns="50799" rIns="50799" bIns="50799" rtlCol="0" anchor="ctr">
            <a:normAutofit/>
          </a:bodyPr>
          <a:lstStyle/>
          <a:p>
            <a:pPr marL="0" indent="0" algn="ctr">
              <a:lnSpc>
                <a:spcPct val="110000"/>
              </a:lnSpc>
              <a:defRPr/>
            </a:pPr>
            <a:r>
              <a:rPr lang="en-US" sz="2000" b="1" i="0" u="none" strike="noStrike" cap="none" spc="0">
                <a:solidFill>
                  <a:srgbClr val="4CAC4E"/>
                </a:solidFill>
                <a:latin typeface="Arial"/>
                <a:ea typeface="Arial"/>
                <a:cs typeface="Arial"/>
              </a:rPr>
              <a:t>Without a a change in governance structures and power distribution, “sustainability” risks remaining disconnected from material realities.</a:t>
            </a:r>
            <a:endParaRPr sz="2000">
              <a:solidFill>
                <a:srgbClr val="4CAC4E"/>
              </a:solidFill>
              <a:latin typeface="Arial"/>
              <a:cs typeface="Arial"/>
            </a:endParaRPr>
          </a:p>
        </p:txBody>
      </p:sp>
      <p:grpSp>
        <p:nvGrpSpPr>
          <p:cNvPr id="658329923" name="Group 4"/>
          <p:cNvGrpSpPr/>
          <p:nvPr/>
        </p:nvGrpSpPr>
        <p:grpSpPr bwMode="auto">
          <a:xfrm>
            <a:off x="928369" y="2929223"/>
            <a:ext cx="1106169" cy="1106169"/>
            <a:chOff x="891" y="7110"/>
            <a:chExt cx="1741" cy="1741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8284850" name="Freeform 5"/>
            <p:cNvSpPr/>
            <p:nvPr/>
          </p:nvSpPr>
          <p:spPr bwMode="auto">
            <a:xfrm>
              <a:off x="891" y="7110"/>
              <a:ext cx="1741" cy="174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1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CAC4E"/>
            </a:solidFill>
            <a:ln>
              <a:noFill/>
            </a:ln>
          </p:spPr>
        </p:sp>
        <p:sp>
          <p:nvSpPr>
            <p:cNvPr id="59864869" name="TextBox 6"/>
            <p:cNvSpPr txBox="1"/>
            <p:nvPr/>
          </p:nvSpPr>
          <p:spPr bwMode="auto">
            <a:xfrm>
              <a:off x="1082" y="7407"/>
              <a:ext cx="1360" cy="1147"/>
            </a:xfrm>
            <a:prstGeom prst="rect">
              <a:avLst/>
            </a:prstGeom>
            <a:solidFill>
              <a:srgbClr val="4CAC4E"/>
            </a:solidFill>
            <a:ln>
              <a:noFill/>
            </a:ln>
          </p:spPr>
          <p:txBody>
            <a:bodyPr vert="horz" lIns="0" tIns="0" rIns="0" bIns="0" rtlCol="0" anchor="ctr" anchorCtr="1">
              <a:norm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3200" b="0" i="0" u="none">
                  <a:solidFill>
                    <a:srgbClr val="FFFFFF"/>
                  </a:solidFill>
                  <a:latin typeface="思源黑体 Normal"/>
                  <a:ea typeface="思源黑体 Normal"/>
                </a:rPr>
                <a:t>02</a:t>
              </a:r>
              <a:endParaRPr lang="en-US" sz="1100"/>
            </a:p>
          </p:txBody>
        </p:sp>
      </p:grpSp>
      <p:grpSp>
        <p:nvGrpSpPr>
          <p:cNvPr id="1414203571" name="Group 10"/>
          <p:cNvGrpSpPr/>
          <p:nvPr/>
        </p:nvGrpSpPr>
        <p:grpSpPr bwMode="auto">
          <a:xfrm>
            <a:off x="928369" y="1461024"/>
            <a:ext cx="1106169" cy="1106169"/>
            <a:chOff x="1236" y="3051"/>
            <a:chExt cx="1741" cy="1741"/>
          </a:xfrm>
        </p:grpSpPr>
        <p:sp>
          <p:nvSpPr>
            <p:cNvPr id="692699607" name="Freeform 11"/>
            <p:cNvSpPr/>
            <p:nvPr/>
          </p:nvSpPr>
          <p:spPr bwMode="auto">
            <a:xfrm>
              <a:off x="1236" y="3051"/>
              <a:ext cx="1741" cy="174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1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CAC4E"/>
            </a:solidFill>
            <a:ln>
              <a:noFill/>
            </a:ln>
          </p:spPr>
        </p:sp>
        <p:sp>
          <p:nvSpPr>
            <p:cNvPr id="266101505" name="TextBox 12"/>
            <p:cNvSpPr txBox="1"/>
            <p:nvPr/>
          </p:nvSpPr>
          <p:spPr bwMode="auto">
            <a:xfrm>
              <a:off x="1427" y="3348"/>
              <a:ext cx="1360" cy="1147"/>
            </a:xfrm>
            <a:prstGeom prst="rect">
              <a:avLst/>
            </a:prstGeom>
            <a:solidFill>
              <a:srgbClr val="4CAC4E"/>
            </a:solidFill>
            <a:ln>
              <a:noFill/>
            </a:ln>
          </p:spPr>
          <p:txBody>
            <a:bodyPr vert="horz" lIns="0" tIns="0" rIns="0" bIns="0" rtlCol="0" anchor="ctr" anchorCtr="1">
              <a:norm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3200" b="0" i="0" u="none">
                  <a:solidFill>
                    <a:srgbClr val="FFFFFF"/>
                  </a:solidFill>
                  <a:latin typeface="思源黑体 Normal"/>
                  <a:ea typeface="思源黑体 Normal"/>
                </a:rPr>
                <a:t>01</a:t>
              </a:r>
              <a:endParaRPr lang="en-US" sz="1100"/>
            </a:p>
          </p:txBody>
        </p:sp>
      </p:grpSp>
      <p:sp>
        <p:nvSpPr>
          <p:cNvPr id="1382194345" name="TextBox 2"/>
          <p:cNvSpPr txBox="1"/>
          <p:nvPr/>
        </p:nvSpPr>
        <p:spPr bwMode="auto">
          <a:xfrm rot="0" flipH="0" flipV="0">
            <a:off x="2148694" y="2952748"/>
            <a:ext cx="9000000" cy="1132185"/>
          </a:xfrm>
          <a:prstGeom prst="rect">
            <a:avLst/>
          </a:prstGeom>
          <a:solidFill>
            <a:srgbClr val="F7EFDF"/>
          </a:solidFill>
          <a:ln>
            <a:solidFill>
              <a:schemeClr val="accent1"/>
            </a:solidFill>
          </a:ln>
        </p:spPr>
        <p:txBody>
          <a:bodyPr vert="horz" lIns="50799" tIns="50799" rIns="50799" bIns="50799" rtlCol="0" anchor="ctr">
            <a:normAutofit/>
          </a:bodyPr>
          <a:lstStyle/>
          <a:p>
            <a:pPr marL="0" indent="0" algn="ctr">
              <a:lnSpc>
                <a:spcPct val="110000"/>
              </a:lnSpc>
              <a:defRPr/>
            </a:pPr>
            <a:r>
              <a:rPr lang="en-US" sz="2000" b="1" i="0" u="none" strike="noStrike" cap="none" spc="0">
                <a:solidFill>
                  <a:srgbClr val="4CAC4E"/>
                </a:solidFill>
                <a:latin typeface="Arial"/>
                <a:ea typeface="Arial"/>
                <a:cs typeface="Arial"/>
              </a:rPr>
              <a:t>This disconnect could perpetuate unsustainable practices within the AI sector.</a:t>
            </a:r>
            <a:endParaRPr sz="2000">
              <a:solidFill>
                <a:srgbClr val="4CAC4E"/>
              </a:solidFill>
              <a:latin typeface="Arial"/>
              <a:cs typeface="Arial"/>
            </a:endParaRPr>
          </a:p>
        </p:txBody>
      </p:sp>
      <p:grpSp>
        <p:nvGrpSpPr>
          <p:cNvPr id="2102800780" name="Group 4"/>
          <p:cNvGrpSpPr/>
          <p:nvPr/>
        </p:nvGrpSpPr>
        <p:grpSpPr bwMode="auto">
          <a:xfrm>
            <a:off x="928369" y="4488118"/>
            <a:ext cx="1106169" cy="1106169"/>
            <a:chOff x="891" y="7110"/>
            <a:chExt cx="1741" cy="1741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832483902" name="Freeform 5"/>
            <p:cNvSpPr/>
            <p:nvPr/>
          </p:nvSpPr>
          <p:spPr bwMode="auto">
            <a:xfrm>
              <a:off x="891" y="7110"/>
              <a:ext cx="1741" cy="174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1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CAC4E"/>
            </a:solidFill>
            <a:ln>
              <a:noFill/>
            </a:ln>
          </p:spPr>
        </p:sp>
        <p:sp>
          <p:nvSpPr>
            <p:cNvPr id="453755974" name="TextBox 6"/>
            <p:cNvSpPr txBox="1"/>
            <p:nvPr/>
          </p:nvSpPr>
          <p:spPr bwMode="auto">
            <a:xfrm>
              <a:off x="1082" y="7407"/>
              <a:ext cx="1360" cy="1147"/>
            </a:xfrm>
            <a:prstGeom prst="rect">
              <a:avLst/>
            </a:prstGeom>
            <a:solidFill>
              <a:srgbClr val="4CAC4E"/>
            </a:solidFill>
            <a:ln>
              <a:noFill/>
            </a:ln>
          </p:spPr>
          <p:txBody>
            <a:bodyPr vert="horz" lIns="0" tIns="0" rIns="0" bIns="0" rtlCol="0" anchor="ctr" anchorCtr="1">
              <a:norm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en-US" sz="3200" b="0" i="0" u="none">
                  <a:solidFill>
                    <a:srgbClr val="FFFFFF"/>
                  </a:solidFill>
                  <a:latin typeface="思源黑体 Normal"/>
                  <a:ea typeface="思源黑体 Normal"/>
                </a:rPr>
                <a:t>03</a:t>
              </a:r>
              <a:endParaRPr lang="en-US" sz="1100"/>
            </a:p>
          </p:txBody>
        </p:sp>
      </p:grpSp>
      <p:sp>
        <p:nvSpPr>
          <p:cNvPr id="1176306833" name="TextBox 2"/>
          <p:cNvSpPr txBox="1"/>
          <p:nvPr/>
        </p:nvSpPr>
        <p:spPr bwMode="auto">
          <a:xfrm rot="0" flipH="0" flipV="0">
            <a:off x="2148694" y="4511643"/>
            <a:ext cx="9000000" cy="1132185"/>
          </a:xfrm>
          <a:prstGeom prst="rect">
            <a:avLst/>
          </a:prstGeom>
          <a:solidFill>
            <a:srgbClr val="F7EFDF"/>
          </a:solidFill>
          <a:ln>
            <a:solidFill>
              <a:schemeClr val="accent1"/>
            </a:solidFill>
          </a:ln>
        </p:spPr>
        <p:txBody>
          <a:bodyPr vert="horz" lIns="50799" tIns="50799" rIns="50799" bIns="50799" rtlCol="0" anchor="ctr">
            <a:normAutofit/>
          </a:bodyPr>
          <a:lstStyle/>
          <a:p>
            <a:pPr marL="0" indent="0" algn="ctr">
              <a:lnSpc>
                <a:spcPct val="110000"/>
              </a:lnSpc>
              <a:defRPr/>
            </a:pPr>
            <a:r>
              <a:rPr lang="en-US" sz="2000" b="1" i="0" u="none" strike="noStrike" cap="none" spc="0">
                <a:solidFill>
                  <a:srgbClr val="4CAC4E"/>
                </a:solidFill>
                <a:latin typeface="Arial"/>
                <a:ea typeface="Arial"/>
                <a:cs typeface="Arial"/>
              </a:rPr>
              <a:t>Essential to address structural inequalities to foster a more inclusive and sustainable governance framework</a:t>
            </a:r>
            <a:endParaRPr sz="2000">
              <a:solidFill>
                <a:srgbClr val="4CAC4E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8792897" name="Untertitel 1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3446126" name="Titel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5457884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Backup Slide 1</a:t>
            </a:r>
            <a:r>
              <a:rPr/>
              <a:t>: Limitations</a:t>
            </a:r>
            <a:endParaRPr/>
          </a:p>
        </p:txBody>
      </p:sp>
      <p:sp>
        <p:nvSpPr>
          <p:cNvPr id="1629620666" name="Inhaltsplatzhalt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network only captures formalized and documented relations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analysis focuses on organizations, not individuals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Sustainability coding is interpretive, though theory-informed and transparent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content analysis is deliberately limited in scope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case is bounded to EU-level governance</a:t>
            </a:r>
            <a:endParaRPr/>
          </a:p>
        </p:txBody>
      </p:sp>
      <p:sp>
        <p:nvSpPr>
          <p:cNvPr id="1251551436" name="Textplatzhalter 3"/>
          <p:cNvSpPr>
            <a:spLocks noGrp="1"/>
          </p:cNvSpPr>
          <p:nvPr>
            <p:ph type="body" sz="quarter" idx="25"/>
          </p:nvPr>
        </p:nvSpPr>
        <p:spPr bwMode="auto"/>
        <p:txBody>
          <a:bodyPr/>
          <a:lstStyle/>
          <a:p>
            <a:pPr>
              <a:defRPr/>
            </a:pPr>
            <a:endParaRPr lang="af-ZA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259090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Backup Slide 2a: </a:t>
            </a:r>
            <a:b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</a:b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Why combine SAF and Political Ecology?</a:t>
            </a:r>
            <a:endParaRPr/>
          </a:p>
        </p:txBody>
      </p:sp>
      <p:sp>
        <p:nvSpPr>
          <p:cNvPr id="673807206" name="Content Placeholder 2"/>
          <p:cNvSpPr>
            <a:spLocks noGrp="1"/>
          </p:cNvSpPr>
          <p:nvPr>
            <p:ph idx="1"/>
          </p:nvPr>
        </p:nvSpPr>
        <p:spPr bwMode="auto">
          <a:xfrm>
            <a:off x="471540" y="1621584"/>
            <a:ext cx="11139783" cy="4516749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>
              <a:buSzPct val="120000"/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Strategic Action Fields (SAF):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Maps governance arena as a structured field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Identifies incumbents, challengers, and alliances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Explains how influence is distributed and stabilized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SzPct val="120000"/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Political Ecology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Examines how power shapes sustainability outcomes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Focuses on resource use, externalization, and inequality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Analyzes dominant narratives such as "green AI"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30553300" name="Textplatzhalter 5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71540" y="5858820"/>
            <a:ext cx="11139783" cy="27812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999"/>
              </a:lnSpc>
              <a:buNone/>
              <a:defRPr sz="750"/>
            </a:lvl2pPr>
            <a:lvl3pPr marL="396000" indent="0">
              <a:lnSpc>
                <a:spcPts val="999"/>
              </a:lnSpc>
              <a:buNone/>
              <a:defRPr sz="750"/>
            </a:lvl3pPr>
            <a:lvl4pPr marL="594000" indent="0">
              <a:lnSpc>
                <a:spcPts val="999"/>
              </a:lnSpc>
              <a:buNone/>
              <a:defRPr sz="750"/>
            </a:lvl4pPr>
            <a:lvl5pPr marL="792000" indent="0">
              <a:lnSpc>
                <a:spcPts val="999"/>
              </a:lnSpc>
              <a:buNone/>
              <a:defRPr sz="750"/>
            </a:lvl5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2708067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Backup Slide 2b: </a:t>
            </a:r>
            <a:b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</a:b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Why combine SAF and Political Ecology?</a:t>
            </a:r>
            <a:endParaRPr/>
          </a:p>
        </p:txBody>
      </p:sp>
      <p:sp>
        <p:nvSpPr>
          <p:cNvPr id="851969127" name="Content Placeholder 2"/>
          <p:cNvSpPr>
            <a:spLocks noGrp="1"/>
          </p:cNvSpPr>
          <p:nvPr>
            <p:ph idx="1"/>
          </p:nvPr>
        </p:nvSpPr>
        <p:spPr bwMode="auto">
          <a:xfrm>
            <a:off x="471540" y="1621584"/>
            <a:ext cx="11139783" cy="4516749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 lang="en-US" sz="2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SzPct val="120000"/>
              <a:buFont typeface="Arial"/>
              <a:buNone/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Combined contribution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SAF shows who holds power and how it operates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Political ecology shows what this power produces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Links governance structure to environmental consequences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011402619" name="Textplatzhalter 5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71540" y="5858820"/>
            <a:ext cx="11139783" cy="27812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999"/>
              </a:lnSpc>
              <a:buNone/>
              <a:defRPr sz="750"/>
            </a:lvl2pPr>
            <a:lvl3pPr marL="396000" indent="0">
              <a:lnSpc>
                <a:spcPts val="999"/>
              </a:lnSpc>
              <a:buNone/>
              <a:defRPr sz="750"/>
            </a:lvl3pPr>
            <a:lvl4pPr marL="594000" indent="0">
              <a:lnSpc>
                <a:spcPts val="999"/>
              </a:lnSpc>
              <a:buNone/>
              <a:defRPr sz="750"/>
            </a:lvl4pPr>
            <a:lvl5pPr marL="792000" indent="0">
              <a:lnSpc>
                <a:spcPts val="999"/>
              </a:lnSpc>
              <a:buNone/>
              <a:defRPr sz="750"/>
            </a:lvl5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8322883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Backup Slide 3: </a:t>
            </a:r>
            <a:b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</a:b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Case Selection and Empirical Corpus</a:t>
            </a:r>
            <a:endParaRPr sz="3600"/>
          </a:p>
        </p:txBody>
      </p:sp>
      <p:sp>
        <p:nvSpPr>
          <p:cNvPr id="1385760479" name="Inhaltsplatzhalt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987 organizations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57 policy texts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1200 organization-text relations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Combined weighted governance network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935046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Backup Slide 4</a:t>
            </a:r>
            <a:r>
              <a:rPr/>
              <a:t>: </a:t>
            </a:r>
            <a:br>
              <a:rPr/>
            </a:br>
            <a:r>
              <a:rPr/>
              <a:t>How the network was constructed</a:t>
            </a:r>
            <a:endParaRPr/>
          </a:p>
        </p:txBody>
      </p:sp>
      <p:sp>
        <p:nvSpPr>
          <p:cNvPr id="333786090" name="Inhaltsplatzhalt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Nodes: organizations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Edges:</a:t>
            </a:r>
            <a:endParaRPr/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Co-membership in governance bodies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Co-occurrence in policy texts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Weighted edges reflect repeated interaction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endParaRPr/>
          </a:p>
          <a:p>
            <a:pPr lvl="0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Captures formalized governance relations, not all informal power</a:t>
            </a:r>
            <a:endParaRPr/>
          </a:p>
        </p:txBody>
      </p:sp>
      <p:sp>
        <p:nvSpPr>
          <p:cNvPr id="1666410962" name="Textplatzhalter 3"/>
          <p:cNvSpPr>
            <a:spLocks noGrp="1"/>
          </p:cNvSpPr>
          <p:nvPr>
            <p:ph type="body" sz="quarter" idx="25"/>
          </p:nvPr>
        </p:nvSpPr>
        <p:spPr bwMode="auto"/>
        <p:txBody>
          <a:bodyPr/>
          <a:lstStyle/>
          <a:p>
            <a:pPr>
              <a:defRPr/>
            </a:pPr>
            <a:endParaRPr lang="af-ZA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8972287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Backup Slide 5</a:t>
            </a:r>
            <a:r>
              <a:rPr/>
              <a:t>a: </a:t>
            </a:r>
            <a:br>
              <a:rPr/>
            </a:b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Centrality, power, and field structure</a:t>
            </a:r>
            <a:endParaRPr/>
          </a:p>
        </p:txBody>
      </p:sp>
      <p:sp>
        <p:nvSpPr>
          <p:cNvPr id="1987542635" name="Inhaltsplatzhalt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SzPct val="120000"/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Network perspective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Degree → access and embeddedness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Betweenness → brokerage and coordination capacity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SzPct val="120000"/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Observed pattern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Central actors: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appear repeatedly across governance arenas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connect otherwise separate groups</a:t>
            </a:r>
            <a:endParaRPr/>
          </a:p>
        </p:txBody>
      </p:sp>
      <p:sp>
        <p:nvSpPr>
          <p:cNvPr id="514341859" name="Textplatzhalter 3"/>
          <p:cNvSpPr>
            <a:spLocks noGrp="1"/>
          </p:cNvSpPr>
          <p:nvPr>
            <p:ph type="body" sz="quarter" idx="25"/>
          </p:nvPr>
        </p:nvSpPr>
        <p:spPr bwMode="auto"/>
        <p:txBody>
          <a:bodyPr/>
          <a:lstStyle/>
          <a:p>
            <a:pPr>
              <a:defRPr/>
            </a:pPr>
            <a:endParaRPr lang="af-ZA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4115100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Backup Slide 5b</a:t>
            </a:r>
            <a:r>
              <a:rPr/>
              <a:t>: </a:t>
            </a:r>
            <a:br>
              <a:rPr/>
            </a:b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Centrality, power, and field structure</a:t>
            </a:r>
            <a:endParaRPr/>
          </a:p>
        </p:txBody>
      </p:sp>
      <p:sp>
        <p:nvSpPr>
          <p:cNvPr id="2121534005" name="Inhaltsplatzhalt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SzPct val="120000"/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Link to Strategic Action Fields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Central positions correspond to incumbents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Peripheral positions correspond to challengers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0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Field stability is reflected in stable centrality patterns</a:t>
            </a:r>
            <a:endParaRPr/>
          </a:p>
          <a:p>
            <a:pPr lvl="0">
              <a:defRPr/>
            </a:pPr>
            <a:endParaRPr/>
          </a:p>
          <a:p>
            <a:pPr lvl="0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Centrality operationalizes incumbency within the field</a:t>
            </a:r>
            <a:endParaRPr/>
          </a:p>
        </p:txBody>
      </p:sp>
      <p:sp>
        <p:nvSpPr>
          <p:cNvPr id="1819164900" name="Textplatzhalter 3"/>
          <p:cNvSpPr>
            <a:spLocks noGrp="1"/>
          </p:cNvSpPr>
          <p:nvPr>
            <p:ph type="body" sz="quarter" idx="25"/>
          </p:nvPr>
        </p:nvSpPr>
        <p:spPr bwMode="auto"/>
        <p:txBody>
          <a:bodyPr/>
          <a:lstStyle/>
          <a:p>
            <a:pPr>
              <a:defRPr/>
            </a:pPr>
            <a:endParaRPr lang="af-ZA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641823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Backup Slide 6</a:t>
            </a:r>
            <a:r>
              <a:rPr/>
              <a:t>: </a:t>
            </a:r>
            <a:br>
              <a:rPr/>
            </a:b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How sustainability was analyzed</a:t>
            </a:r>
            <a:endParaRPr/>
          </a:p>
        </p:txBody>
      </p:sp>
      <p:sp>
        <p:nvSpPr>
          <p:cNvPr id="1560995298" name="Inhaltsplatzhalter 2"/>
          <p:cNvSpPr>
            <a:spLocks noGrp="1"/>
          </p:cNvSpPr>
          <p:nvPr>
            <p:ph idx="1"/>
          </p:nvPr>
        </p:nvSpPr>
        <p:spPr bwMode="auto">
          <a:xfrm flipH="0" flipV="0">
            <a:off x="471540" y="1621584"/>
            <a:ext cx="11494759" cy="451674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Based on public self-descriptions, mission statements,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objectives</a:t>
            </a:r>
            <a:endParaRPr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SzPct val="120000"/>
              <a:buFont typeface="Arial"/>
              <a:buNone/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SzPct val="120000"/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Categories: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0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Explicit sustainability focus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Environmental protection, ecological limits, climate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impacts, ...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lvl="0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Implicit (indirect) focus 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Efficiency, innovation, resilience, responsibility, ...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0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No sustainability focus 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No meaningful engagement at all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36996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Backup Slide 7</a:t>
            </a:r>
            <a:r>
              <a:rPr/>
              <a:t>: </a:t>
            </a:r>
            <a:br>
              <a:rPr/>
            </a:b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Linking structure and discourse</a:t>
            </a:r>
            <a:endParaRPr/>
          </a:p>
        </p:txBody>
      </p:sp>
      <p:sp>
        <p:nvSpPr>
          <p:cNvPr id="1894126845" name="Inhaltsplatzhalter 2"/>
          <p:cNvSpPr>
            <a:spLocks noGrp="1"/>
          </p:cNvSpPr>
          <p:nvPr>
            <p:ph idx="1"/>
          </p:nvPr>
        </p:nvSpPr>
        <p:spPr bwMode="auto">
          <a:xfrm flipH="0" flipV="0">
            <a:off x="471540" y="1621584"/>
            <a:ext cx="11546951" cy="451674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Step 1: Identify central vs peripheral actors (SNA)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Step 2: Analyze texts associated with these actors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(content analysis)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Step 3: Compare sustainability framings 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Discursive influence is interpreted in relation to structural position.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98245729" name="Textplatzhalter 3"/>
          <p:cNvSpPr>
            <a:spLocks noGrp="1"/>
          </p:cNvSpPr>
          <p:nvPr>
            <p:ph type="body" sz="quarter" idx="25"/>
          </p:nvPr>
        </p:nvSpPr>
        <p:spPr bwMode="auto"/>
        <p:txBody>
          <a:bodyPr/>
          <a:lstStyle/>
          <a:p>
            <a:pPr>
              <a:defRPr/>
            </a:pPr>
            <a:endParaRPr lang="af-ZA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293209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Backup Slide 8: </a:t>
            </a: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Coalition Structures and Sustainability Challengers</a:t>
            </a:r>
            <a:endParaRPr/>
          </a:p>
        </p:txBody>
      </p:sp>
      <p:pic>
        <p:nvPicPr>
          <p:cNvPr id="32655442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87121" y="1861739"/>
            <a:ext cx="5301054" cy="3959654"/>
          </a:xfrm>
          <a:prstGeom prst="rect">
            <a:avLst/>
          </a:prstGeom>
        </p:spPr>
      </p:pic>
      <p:pic>
        <p:nvPicPr>
          <p:cNvPr id="1821456602" name=""/>
          <p:cNvPicPr>
            <a:picLocks noChangeAspect="1"/>
          </p:cNvPicPr>
          <p:nvPr/>
        </p:nvPicPr>
        <p:blipFill rotWithShape="1">
          <a:blip r:embed="rId4"/>
        </p:blipFill>
        <p:spPr bwMode="auto">
          <a:xfrm flipH="0" flipV="0">
            <a:off x="6433896" y="1861739"/>
            <a:ext cx="5301054" cy="39596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053618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What Is Influence?</a:t>
            </a:r>
            <a:endParaRPr/>
          </a:p>
        </p:txBody>
      </p:sp>
      <p:sp>
        <p:nvSpPr>
          <p:cNvPr id="763651457" name="Inhaltsplatzhalt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SzPct val="120000"/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Network ties capture relations such as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Co-membership in institutional settings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Shared participation in policy texts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Formal authorship, contribution, or affiliation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Centrality and brokerage indicate structural advantage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618777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Arial Black"/>
                <a:ea typeface="Arial Black"/>
                <a:cs typeface="Arial Black"/>
              </a:rPr>
              <a:t>Linking Network Position to Sustainability Framing</a:t>
            </a:r>
            <a:endParaRPr/>
          </a:p>
        </p:txBody>
      </p:sp>
      <p:sp>
        <p:nvSpPr>
          <p:cNvPr id="853510413" name="Inhaltsplatzhalt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 lang="en-US" sz="2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Influence over sustainability-related AI policy is distributed unequally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Central positions are occupied mainly by </a:t>
            </a: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market-oriented </a:t>
            </a: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incumbents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Ecological justice perspectives exist, but do not occupy central positions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Narrative power follows structural embeddedness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Hard for ecological justice advocates within landscape dominated by corporate interests</a:t>
            </a:r>
            <a:endParaRPr lang="en-US" sz="2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725005" name="Textplatzhalter 5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71540" y="5858820"/>
            <a:ext cx="11139783" cy="27812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999"/>
              </a:lnSpc>
              <a:buNone/>
              <a:defRPr sz="750"/>
            </a:lvl2pPr>
            <a:lvl3pPr marL="396000" indent="0">
              <a:lnSpc>
                <a:spcPts val="999"/>
              </a:lnSpc>
              <a:buNone/>
              <a:defRPr sz="750"/>
            </a:lvl3pPr>
            <a:lvl4pPr marL="594000" indent="0">
              <a:lnSpc>
                <a:spcPts val="999"/>
              </a:lnSpc>
              <a:buNone/>
              <a:defRPr sz="750"/>
            </a:lvl4pPr>
            <a:lvl5pPr marL="792000" indent="0">
              <a:lnSpc>
                <a:spcPts val="999"/>
              </a:lnSpc>
              <a:buNone/>
              <a:defRPr sz="750"/>
            </a:lvl5pPr>
          </a:lstStyle>
          <a:p>
            <a:pPr>
              <a:defRPr/>
            </a:pPr>
            <a:endParaRPr/>
          </a:p>
        </p:txBody>
      </p:sp>
      <p:pic>
        <p:nvPicPr>
          <p:cNvPr id="24347714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59908" y="79047"/>
            <a:ext cx="9163049" cy="6057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184199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62062" y="1785937"/>
            <a:ext cx="9667874" cy="3286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231014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My 6 favorite quotes from analyzed texts</a:t>
            </a:r>
            <a:endParaRPr/>
          </a:p>
        </p:txBody>
      </p:sp>
      <p:sp>
        <p:nvSpPr>
          <p:cNvPr id="37732075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71540" y="1621584"/>
            <a:ext cx="11599142" cy="4516749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“AI [...] enables climate mitigation, efficiency, and optimization”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(White Paper,p. 2)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“Environmental impact [...] is treated through a trust-and-uptake logic”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(Impact Assessment, p. 81)</a:t>
            </a:r>
            <a:r>
              <a:rPr/>
              <a:t> —&gt; Environmental Impact only as side-effect of uptake.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“Sustainability is often defined as compatible with economic strengthening”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(EESC 2019, p. 5)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“Economic sustainability” is explicitly tied to being “productive, profitable and competitive”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(EESC 2019, p. 9)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“Stricter rules risk innovation and create administrative burden”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(DIGITALEUROPE, p. 5)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“Digitalization has not reduced energy demand or emissions so far”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(EESC 2020, p. 14)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87289894" name="Textplatzhalter 5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71540" y="5858820"/>
            <a:ext cx="11139783" cy="27812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999"/>
              </a:lnSpc>
              <a:buNone/>
              <a:defRPr sz="750"/>
            </a:lvl2pPr>
            <a:lvl3pPr marL="396000" indent="0">
              <a:lnSpc>
                <a:spcPts val="999"/>
              </a:lnSpc>
              <a:buNone/>
              <a:defRPr sz="750"/>
            </a:lvl3pPr>
            <a:lvl4pPr marL="594000" indent="0">
              <a:lnSpc>
                <a:spcPts val="999"/>
              </a:lnSpc>
              <a:buNone/>
              <a:defRPr sz="750"/>
            </a:lvl4pPr>
            <a:lvl5pPr marL="792000" indent="0">
              <a:lnSpc>
                <a:spcPts val="999"/>
              </a:lnSpc>
              <a:buNone/>
              <a:defRPr sz="750"/>
            </a:lvl5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JKU">
      <a:dk1>
        <a:srgbClr val="000000"/>
      </a:dk1>
      <a:lt1>
        <a:sysClr val="window" lastClr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JKU_SoWi_Praesentation_DE_16_9_2021_02</Template>
  <TotalTime>0</TotalTime>
  <Words>0</Words>
  <Application>ONLYOFFICE/9.3.1.8</Application>
  <PresentationFormat>On-screen Show (4:3)</PresentationFormat>
  <Paragraphs>0</Paragraphs>
  <Slides>39</Slides>
  <Notes>39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JKU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AK117135</dc:creator>
  <cp:lastModifiedBy/>
  <cp:revision>7</cp:revision>
  <dcterms:created xsi:type="dcterms:W3CDTF">2021-02-19T07:49:17Z</dcterms:created>
  <dcterms:modified xsi:type="dcterms:W3CDTF">2026-04-12T16:44:34Z</dcterms:modified>
</cp:coreProperties>
</file>